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9d7aef9bb74424" /><Relationship Type="http://schemas.openxmlformats.org/officeDocument/2006/relationships/extended-properties" Target="/docProps/app.xml" Id="R936cbcaccc1d46bc" /><Relationship Type="http://schemas.openxmlformats.org/officeDocument/2006/relationships/officeDocument" Target="/ppt/presentation.xml" Id="Rea881adba6934bf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46ffd7c8ec41ed"/>
  </p:sldMasterIdLst>
  <p:notesMasterIdLst>
    <p:notesMasterId xmlns:r="http://schemas.openxmlformats.org/officeDocument/2006/relationships" r:id="R8f7d4dc8d40a42dd"/>
  </p:notesMasterIdLst>
  <p:sldIdLst>
    <p:sldId xmlns:r="http://schemas.openxmlformats.org/officeDocument/2006/relationships" id="256" r:id="R465807ac3bf34c7c"/>
  </p:sldIdLst>
  <p:sldSz cx="16002000" cy="89630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a8984fa42f44e3b" /><Relationship Type="http://schemas.openxmlformats.org/officeDocument/2006/relationships/slideMaster" Target="/ppt/slideMasters/slideMaster1.xml" Id="Rc546ffd7c8ec41ed" /><Relationship Type="http://schemas.openxmlformats.org/officeDocument/2006/relationships/notesMaster" Target="/ppt/notesMasters/notesMaster1.xml" Id="R8f7d4dc8d40a42dd" /><Relationship Type="http://schemas.openxmlformats.org/officeDocument/2006/relationships/presProps" Target="/ppt/presProps.xml" Id="R16232721ae844dd2" /><Relationship Type="http://schemas.openxmlformats.org/officeDocument/2006/relationships/tableStyles" Target="/ppt/tableStyles.xml" Id="Re79f44e8cabd47d4" /><Relationship Type="http://schemas.openxmlformats.org/officeDocument/2006/relationships/slide" Target="/ppt/slides/slide1.xml" Id="R465807ac3bf34c7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38e80d75c114d1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799055399c44b01" /><Relationship Type="http://schemas.openxmlformats.org/officeDocument/2006/relationships/notesMaster" Target="/ppt/notesMasters/notesMaster1.xml" Id="R325cf425a6bc40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d7830b54bf348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0c6eae8624f4f6f" /><Relationship Type="http://schemas.openxmlformats.org/officeDocument/2006/relationships/slideLayout" Target="/ppt/slideLayouts/slideLayout1.xml" Id="R2a64cbe8683d45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a64cbe8683d45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0dc86d5ca4de0" /><Relationship Type="http://schemas.openxmlformats.org/officeDocument/2006/relationships/image" Target="/ppt/media/image.png" Id="R9dc076baa6da41d1" /><Relationship Type="http://schemas.openxmlformats.org/officeDocument/2006/relationships/image" Target="/ppt/media/image2.png" Id="R03fae7c30ef745d1" /><Relationship Type="http://schemas.openxmlformats.org/officeDocument/2006/relationships/image" Target="/ppt/media/image3.png" Id="R9a755c7a09464711" /><Relationship Type="http://schemas.openxmlformats.org/officeDocument/2006/relationships/image" Target="/ppt/media/image4.png" Id="R3c034f2f48a445fa" /><Relationship Type="http://schemas.openxmlformats.org/officeDocument/2006/relationships/image" Target="/ppt/media/image5.png" Id="R427846d4aad34cb4" /><Relationship Type="http://schemas.openxmlformats.org/officeDocument/2006/relationships/image" Target="/ppt/media/image6.png" Id="R01bdd1f4a2df4237" /><Relationship Type="http://schemas.openxmlformats.org/officeDocument/2006/relationships/image" Target="/ppt/media/image7.png" Id="Re7c20876a15848f6" /><Relationship Type="http://schemas.openxmlformats.org/officeDocument/2006/relationships/image" Target="/ppt/media/image8.png" Id="R8916292ccd9044ec" /><Relationship Type="http://schemas.openxmlformats.org/officeDocument/2006/relationships/notesSlide" Target="/ppt/notesSlides/notesSlide1.xml" Id="Rcd9f45a4640a4f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2" name="">
            <a:extLst xmlns:a="http://schemas.openxmlformats.org/drawingml/2006/main">
              <a:ext uri="{FF2B5EF4-FFF2-40B4-BE49-F238E27FC236}">
                <a16:creationId xmlns:a16="http://schemas.microsoft.com/office/drawing/2014/main" id="{F596ECA6-0781-4781-A151-A6DC18BE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7625"/>
            <a:ext cx="15335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01C62"/>
                </a:solidFill>
              </a:defRPr>
            </a:pPr>
            <a:r>
              <a:rPr sz="3150" b="1">
                <a:solidFill>
                  <a:srgbClr val="001C62"/>
                </a:solidFill>
              </a:rPr>
              <a:t>我们当前构想的整体流程图（Watermark-Guided Face Retouching Reversal）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79A88-BBFB-440C-B0A0-7EE060B43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666750"/>
            <a:ext cx="10858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025" b="0">
                <a:solidFill>
                  <a:srgbClr val="001C62"/>
                </a:solidFill>
              </a:defRPr>
            </a:pPr>
            <a:r>
              <a:rPr sz="2025" b="0">
                <a:solidFill>
                  <a:srgbClr val="001C62"/>
                </a:solidFill>
              </a:rPr>
              <a:t>目标：在美颜前主动保存可恢复的原图信息，在美颜后显式估计形变并恢复原图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3229DF-73D2-4601-973A-D6F72E403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866775"/>
            <a:ext cx="15478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74AC3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B3A69B-38F2-4DC3-B91A-FE401DAE5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" y="1123950"/>
            <a:ext cx="1381125" cy="3533775"/>
          </a:xfrm>
          <a:prstGeom xmlns:a="http://schemas.openxmlformats.org/drawingml/2006/main" prst="roundRect">
            <a:avLst>
              <a:gd name="adj" fmla="val 124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4EFB34-B5CF-49F5-BE3F-C8628E07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123950"/>
            <a:ext cx="2952750" cy="3533775"/>
          </a:xfrm>
          <a:prstGeom xmlns:a="http://schemas.openxmlformats.org/drawingml/2006/main" prst="roundRect">
            <a:avLst>
              <a:gd name="adj" fmla="val 58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FE6D51-2055-41C0-9F76-EBFA27A5D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1123950"/>
            <a:ext cx="3114675" cy="3476625"/>
          </a:xfrm>
          <a:prstGeom xmlns:a="http://schemas.openxmlformats.org/drawingml/2006/main" prst="roundRect">
            <a:avLst>
              <a:gd name="adj" fmla="val 55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BDE1D2-08A1-43FF-9897-8150A18A6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123950"/>
            <a:ext cx="3238500" cy="3381375"/>
          </a:xfrm>
          <a:prstGeom xmlns:a="http://schemas.openxmlformats.org/drawingml/2006/main" prst="roundRect">
            <a:avLst>
              <a:gd name="adj" fmla="val 52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AC32D0-9BE8-4901-BEF7-168824AA6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91925" y="1123950"/>
            <a:ext cx="4095750" cy="3381375"/>
          </a:xfrm>
          <a:prstGeom xmlns:a="http://schemas.openxmlformats.org/drawingml/2006/main" prst="roundRect">
            <a:avLst>
              <a:gd name="adj" fmla="val 507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7E9E76-5D0E-4482-9B78-BD39DB43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00150"/>
            <a:ext cx="1190625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003B94"/>
          </a:solidFill>
          <a:ln xmlns:a="http://schemas.openxmlformats.org/drawingml/2006/main" w="14288">
            <a:solidFill>
              <a:srgbClr val="003B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0) 输入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78A866-34E2-4022-A280-A42AB3808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1219200"/>
            <a:ext cx="1952625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94"/>
          </a:solidFill>
          <a:ln xmlns:a="http://schemas.openxmlformats.org/drawingml/2006/main" w="14288">
            <a:solidFill>
              <a:srgbClr val="003B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1) Payload 生成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720FB3-770F-43E9-BEB9-7751D05D6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1219200"/>
            <a:ext cx="20383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94"/>
          </a:solidFill>
          <a:ln xmlns:a="http://schemas.openxmlformats.org/drawingml/2006/main" w="14288">
            <a:solidFill>
              <a:srgbClr val="003B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2) 自隐写 / 可逆嵌入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D33438-8D30-455B-9E3D-1FCEBA13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219200"/>
            <a:ext cx="1809750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94"/>
          </a:solidFill>
          <a:ln xmlns:a="http://schemas.openxmlformats.org/drawingml/2006/main" w="14288">
            <a:solidFill>
              <a:srgbClr val="003B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3) 固定美颜算子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71A3957-CA3B-472C-A8A0-204F96C3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53925" y="1219200"/>
            <a:ext cx="1952625" cy="314325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03B94"/>
          </a:solidFill>
          <a:ln xmlns:a="http://schemas.openxmlformats.org/drawingml/2006/main" w="14288">
            <a:solidFill>
              <a:srgbClr val="003B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4) 信息恢复 / 解码</a:t>
            </a:r>
          </a:p>
        </p:txBody>
      </p:sp>
      <p:pic>
        <p:nvPicPr>
          <p:cNvPr id="2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c076baa6da41d1"/>
          <a:srcRect xmlns:a="http://schemas.openxmlformats.org/drawingml/2006/main" l="35" t="0" r="3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3850" y="1809750"/>
            <a:ext cx="1085850" cy="1181100"/>
          </a:xfrm>
          <a:prstGeom xmlns:a="http://schemas.openxmlformats.org/drawingml/2006/main" prst="roundRect">
            <a:avLst>
              <a:gd name="adj" fmla="val 8772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2D405CB-FD66-4383-97C7-ACBC0E51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0289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11111"/>
                </a:solidFill>
              </a:defRPr>
            </a:pPr>
            <a:r>
              <a:rPr sz="1275" b="1">
                <a:solidFill>
                  <a:srgbClr val="111111"/>
                </a:solidFill>
              </a:rPr>
              <a:t>原图  Iₒ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F105E3C-7A64-4339-B79C-D97B6A897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4A256C-914A-46E8-ADEF-B23F9FFF3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86175"/>
            <a:ext cx="1066800" cy="866775"/>
          </a:xfrm>
          <a:prstGeom xmlns:a="http://schemas.openxmlformats.org/drawingml/2006/main" prst="roundRect">
            <a:avLst>
              <a:gd name="adj" fmla="val 109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0A558D-A255-44C7-BD44-BBE6ACB45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" y="3800475"/>
            <a:ext cx="8382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DWT /</a:t>
            </a:r>
          </a:p>
          <a:p xmlns:a="http://schemas.openxmlformats.org/drawingml/2006/main">
            <a:pPr algn="ctr">
              <a:defRPr sz="1200" b="0">
                <a:solidFill>
                  <a:srgbClr val="111111"/>
                </a:solidFill>
              </a:defRPr>
            </a:pPr>
            <a:r>
              <a:rPr sz="1200" b="0">
                <a:solidFill>
                  <a:srgbClr val="111111"/>
                </a:solidFill>
              </a:rPr>
              <a:t>编码预处理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650A979-7DAA-43B2-B78F-4663A3EAC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200525"/>
            <a:ext cx="742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074AC3"/>
                </a:solidFill>
              </a:defRPr>
            </a:pPr>
            <a:r>
              <a:rPr sz="1800" b="0">
                <a:solidFill>
                  <a:srgbClr val="074AC3"/>
                </a:solidFill>
              </a:rPr>
              <a:t>〰〰〰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942AEF-7B3F-465E-9316-F6A11099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619250"/>
            <a:ext cx="271462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67D2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ADEC38F-AB13-478C-8962-4CDE02D3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733550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C6C"/>
                </a:solidFill>
              </a:defRPr>
            </a:pPr>
            <a:r>
              <a:rPr sz="1125" b="1">
                <a:solidFill>
                  <a:srgbClr val="006C6C"/>
                </a:solidFill>
              </a:rPr>
              <a:t>Coordinate Watermark C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D562D2-2C7F-4A73-B404-9F7FB834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047875"/>
            <a:ext cx="147637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提供稠密位置置信息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561772B-B75A-42A5-AAC5-B3C754FF8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954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A1BEA-07FD-446B-A066-1A83CC8E5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69545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266EC4-AEEF-46CB-8814-1E872D2E5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6954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6635F52-51C5-4DA8-B572-B8C15F94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784033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B22A1D1-6CCD-45AB-90A3-38116EE3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6954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7F498F-E2E0-40DF-813A-F9B7F332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87261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8D8F24D-E3F2-4C5B-B598-DD117DC8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16954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900B0A-B701-42D8-8D58-5379DDF85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61198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5533C26-6036-41FC-B79D-E5B2D2413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16954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E61152-DC68-4E72-9BF2-9AB148144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49780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D57401-DA68-4898-B17D-EEF11034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6954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F2690B-6340-43A4-81D9-D7B20A337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38363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4AD7056-A129-4E63-AC44-BCF508C31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16954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A3F452A-173E-4B32-A875-D69644AD7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226945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A4763FA-E548-4124-B0C0-4C594CD8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1695450"/>
            <a:ext cx="0" cy="6286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401C90-3029-4733-AA35-5E14063D7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315528"/>
            <a:ext cx="8001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257B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1EC44C3-6500-4776-BDBE-BE8486AC5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43175"/>
            <a:ext cx="2714625" cy="819150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67D2"/>
            </a:solidFill>
            <a:prstDash val="solid"/>
          </a:ln>
        </p:spPr>
      </p:sp>
      <p:pic>
        <p:nvPicPr>
          <p:cNvPr id="3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fae7c30ef745d1"/>
          <a:srcRect xmlns:a="http://schemas.openxmlformats.org/drawingml/2006/main" l="0" t="12088" r="0" b="120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71675" y="2600325"/>
            <a:ext cx="866775" cy="714375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90D4B9-2383-4B8D-A58C-C387F8E8C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619375"/>
            <a:ext cx="14668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C6C"/>
                </a:solidFill>
              </a:defRPr>
            </a:pPr>
            <a:r>
              <a:rPr sz="1125" b="1">
                <a:solidFill>
                  <a:srgbClr val="006C6C"/>
                </a:solidFill>
              </a:rPr>
              <a:t>原图低频参考图  Iᶫᶫₒ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0D21481-9786-44B4-974C-A94D769E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876550"/>
            <a:ext cx="142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保留轮廓 /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五官结构 / 光照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AC4380-A7F0-485E-BB12-52F6CA2E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3476625"/>
            <a:ext cx="2714625" cy="762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E67D2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8307B7C-181A-40C0-99E9-BBB0F9A9A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14954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06C6C"/>
                </a:solidFill>
              </a:defRPr>
            </a:pPr>
            <a:r>
              <a:rPr sz="1125" b="1">
                <a:solidFill>
                  <a:srgbClr val="006C6C"/>
                </a:solidFill>
              </a:rPr>
              <a:t>高频细节压缩 latent zᴴ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04E4D39-C82B-4026-8C46-D49FB730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3819525"/>
            <a:ext cx="1428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毛孔 / 痣 /</a:t>
            </a:r>
          </a:p>
          <a:p xmlns:a="http://schemas.openxmlformats.org/drawingml/2006/main">
            <a:pPr algn="l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局部细节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F40AA2B-13DA-4805-88FE-B0B613E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D66D9E-23C2-41D4-9944-01879A722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16347D-03C5-41DC-9267-33856FF9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0205CF-5A3B-49B6-9577-61231FDA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28CE20B-5592-4E15-83B7-54CB01DB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716A62-2DCA-47D2-BB34-16657E48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91EF4F2-84AC-49E4-B636-16AAE29A2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BBE69B9-F955-43A0-9BA7-64D6DC7B6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B690BDF-73F9-490F-8FE1-0C086F44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E6CD4D-53AA-41FB-ADC8-942C3E58C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35C0659-D07C-4698-A2F6-8CF9E6523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A289FCB-A9AC-4373-8AAA-BBF863BE4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9AF27E-35AC-4EC9-8652-7799F665C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E2971749-7507-46F7-A93E-3CC84E8D7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571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49CA3E5-15AA-498F-A3BC-1A7BC8CF1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C16AA4A6-E992-439E-B384-4FAE4F39C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ED61D8A-7DED-4690-8E75-9AA495624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13E92D1-F83F-4918-96A6-7A09E851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7A1AD79-2578-4D17-AA0B-A0DDADC3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BC4A26F2-1972-4810-BEDC-7F270890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21FCA6BA-AB24-46A8-A5BE-D1389E4AA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45DC6F7-E0E8-4957-8369-C04175478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6E5B669-BACC-421C-9218-E1F73A257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A36FBC4-5B90-4819-888B-1E67D0E7D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9FBAC32-0946-4AF4-A87C-C1AECE106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33D1684-2F60-4E01-A988-147F18373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71C6EC4-56DF-421A-B8BC-7B717E9F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D09FE820-2DAA-4422-9FFA-E31013404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648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BE102BB-5DC8-4E03-ACCA-9497A6051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77503405-9641-4813-993B-D45BD4ED7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1BFDB09-7C2B-4A2B-A467-991DCA9CE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D729C2AB-7A2C-42C6-A352-14582E29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8A0F4770-1765-44C1-9FEB-7DCD83BD2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A32E9FFE-FDD8-49A0-8427-D69EDAAE4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AE37B20-C690-48F4-92DE-6BFB77810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5CADF5F6-7D5C-4F79-92DE-E590231F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18C23A4-478C-48F8-99EC-940EEBF6E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E1DB8EE-D4CA-4C6B-A2C7-0B7A7670A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BD530569-A0F2-4E90-B463-21B0ED379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0A12A89-8C83-4963-ADC5-F10492390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5D5927A-2EE8-46D8-93D4-5883DF156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93F9D55-B4B9-44C9-A5C1-DA6F32D51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724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EEC11BB-D222-430B-9B74-89B980424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7481A793-D125-4329-8D70-0D8571295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4691CF0-87EA-4378-840C-57BB0205B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6611F62C-D0CE-4B4A-8BED-1D425E252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C757ABA-FCA4-4126-9296-5FDEA08B9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B4BB1A4-1FD4-4159-84F1-EC9B6B76E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A41321EA-6EC9-46CE-95CA-FD75EF35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FABB6433-DECD-45CB-AD79-35523846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52318B5-F66A-4141-8471-C566925B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ECE34A5-EDBD-479D-B5DB-533E25BBF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46E63C4-967B-40A4-A098-FF1B3FBC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B8A13AB2-130B-4362-A2A3-6DC4093C5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F193406-5950-4168-B7EF-C4788C55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84CC26B-E8E8-4FA4-86CB-5F8FF1BF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004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FDA246F-066C-4F04-ABFC-4ED3E94D3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BB4DF316-919A-47D3-BC1F-AA57744B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DFD78E6-2EE2-4A7F-9849-8E253AD9A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51CA9EB-6BAB-42A7-9646-D8E17CC28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142B1CF-C337-495A-AD20-D6E3940A1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FAE81D7-37CB-4CA4-BF85-A1C295A36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40F7A68-FB0C-4EE7-A913-DF0567E1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75EAEAB-BBB7-4D6D-9BF0-652F9427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4695093F-8A2F-4481-9015-34941677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9B9EF23-9C7C-45E6-92F2-905DAD20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7AE9F24-704F-45C3-B1DB-4205B79C7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F6F0C893-938C-4BB7-B353-2D75466D1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29D061C9-CA55-474D-9F39-A1C66168C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C66D81A-FB59-4ADD-AAB6-88C8B5657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8766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2B7AF43-1870-486C-987D-A5AC9C1C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CD8F0E84-A17E-4C2B-A467-CD1D5718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1A4F072-E751-4771-9241-2572CE385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3EE4C5D1-0074-4EA9-BB67-D43C49CE9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993B3E7-51B7-46D7-BA9A-9C8D4BEE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7C2620C0-AF3E-48EA-8B17-E199F3607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462F160-CD16-45E3-9167-0CD95161D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DEFC518-8D64-4C35-A34A-8FB57C931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7046BDEA-2F9B-426E-AA0A-2CCF21DC2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FD80C7FC-3AF2-4D1E-8044-544ED6C1F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6562DF3B-6724-4CAD-B5BF-D6B449F0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31A9ABF-6B7F-4EAD-8E72-B758FD7EA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3CAFF1E-401B-4C45-9F7D-4D39D2ADD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43E5D4F-A70E-49FB-8E18-9B69B7F1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39528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DCB4ADE8-24AB-46CC-894A-772D197F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6D6EA3DD-389D-43AD-B0D8-07F3D3E51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3ED179D-3763-456B-9DA0-CE72801A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6502A449-3927-4811-A16B-2E647DAC2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CA83A407-DDCF-4282-ADD6-D0FA8AF8B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79A62CD6-23BD-4696-BFF4-60A66387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42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9CE4E1EC-7503-45AF-93B4-163DA208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466B1DE8-A2CF-402D-8123-4D126A02C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C5BAC353-4B9E-4EDC-9CE7-A8B4F22B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44F76DF7-9DB8-4005-A09F-92B7B09D6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602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1C050ED7-852C-47CF-A20D-53C55C4E0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202899F2-E22A-4DE5-A7C9-AB48D177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B98C72D8-0C4A-4B03-B83E-DE5E8A69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31E8D841-370F-4364-955A-EB332F84A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40290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4FE235BA-0FAB-4C92-8893-D65F34D81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1675" y="4105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A71C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8C619842-E746-4EBB-A594-D2A720A6D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4105275"/>
            <a:ext cx="19050" cy="19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5370AB1A-7959-4317-9466-47496AD85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324350"/>
            <a:ext cx="2714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36FA5F1B-828E-4DB0-B334-79AEBD06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9775" y="436245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1C62"/>
                </a:solidFill>
              </a:defRPr>
            </a:pPr>
            <a:r>
              <a:rPr sz="1200" b="1">
                <a:solidFill>
                  <a:srgbClr val="001C62"/>
                </a:solidFill>
              </a:rPr>
              <a:t>Payload  P = [ C, Iᶫᶫₒ, zᴴ ]</a:t>
            </a:r>
          </a:p>
        </p:txBody>
      </p:sp>
      <p:pic>
        <p:nvPicPr>
          <p:cNvPr id="4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755c7a09464711"/>
          <a:srcRect xmlns:a="http://schemas.openxmlformats.org/drawingml/2006/main" l="0" t="5243" r="0" b="5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62525" y="1809750"/>
            <a:ext cx="704850" cy="685800"/>
          </a:xfrm>
          <a:prstGeom xmlns:a="http://schemas.openxmlformats.org/drawingml/2006/main" prst="roundRect">
            <a:avLst>
              <a:gd name="adj" fmla="val 13889"/>
            </a:avLst>
          </a:prstGeom>
        </p:spPr>
      </p:pic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22A88BBC-1C59-489B-B9A0-E64429986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3475" y="2533650"/>
            <a:ext cx="7524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原图  Iₒ</a:t>
            </a:r>
          </a:p>
        </p:txBody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0ADF404A-1BFF-4C82-B7D9-9559E75F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048000"/>
            <a:ext cx="100965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C7A37"/>
            </a:solidFill>
            <a:prstDash val="solid"/>
          </a:ln>
        </p:spPr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BAE2C822-7904-43E8-99B1-FD9A198F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152775"/>
            <a:ext cx="8763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7A37"/>
                </a:solidFill>
              </a:defRPr>
            </a:pPr>
            <a:r>
              <a:rPr sz="1125" b="1">
                <a:solidFill>
                  <a:srgbClr val="2C7A37"/>
                </a:solidFill>
              </a:rPr>
              <a:t>Payload  P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4C141EDE-F9B9-4AF2-A259-6D43920DE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028825"/>
            <a:ext cx="1104900" cy="1562100"/>
          </a:xfrm>
          <a:prstGeom xmlns:a="http://schemas.openxmlformats.org/drawingml/2006/main" prst="roundRect">
            <a:avLst>
              <a:gd name="adj" fmla="val 1034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3BCF7ADF-D66C-4077-8967-5EA801AA9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143125"/>
            <a:ext cx="952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002D8F"/>
                </a:solidFill>
              </a:defRPr>
            </a:pPr>
            <a:r>
              <a:rPr sz="900" b="1">
                <a:solidFill>
                  <a:srgbClr val="002D8F"/>
                </a:solidFill>
              </a:rPr>
              <a:t>🔒</a:t>
            </a:r>
          </a:p>
          <a:p xmlns:a="http://schemas.openxmlformats.org/drawingml/2006/main">
            <a:pPr algn="ctr">
              <a:defRPr sz="900" b="1">
                <a:solidFill>
                  <a:srgbClr val="002D8F"/>
                </a:solidFill>
              </a:defRPr>
            </a:pPr>
            <a:r>
              <a:rPr sz="900" b="1">
                <a:solidFill>
                  <a:srgbClr val="002D8F"/>
                </a:solidFill>
              </a:rPr>
              <a:t>INN /</a:t>
            </a:r>
          </a:p>
          <a:p xmlns:a="http://schemas.openxmlformats.org/drawingml/2006/main">
            <a:pPr algn="ctr">
              <a:defRPr sz="900" b="1">
                <a:solidFill>
                  <a:srgbClr val="002D8F"/>
                </a:solidFill>
              </a:defRPr>
            </a:pPr>
            <a:r>
              <a:rPr sz="900" b="1">
                <a:solidFill>
                  <a:srgbClr val="002D8F"/>
                </a:solidFill>
              </a:rPr>
              <a:t>Self-</a:t>
            </a:r>
          </a:p>
          <a:p xmlns:a="http://schemas.openxmlformats.org/drawingml/2006/main">
            <a:pPr algn="ctr">
              <a:defRPr sz="900" b="1">
                <a:solidFill>
                  <a:srgbClr val="002D8F"/>
                </a:solidFill>
              </a:defRPr>
            </a:pPr>
            <a:r>
              <a:rPr sz="900" b="1">
                <a:solidFill>
                  <a:srgbClr val="002D8F"/>
                </a:solidFill>
              </a:rPr>
              <a:t>Steganography</a:t>
            </a:r>
          </a:p>
          <a:p xmlns:a="http://schemas.openxmlformats.org/drawingml/2006/main">
            <a:pPr algn="ctr">
              <a:defRPr sz="900" b="1">
                <a:solidFill>
                  <a:srgbClr val="002D8F"/>
                </a:solidFill>
              </a:defRPr>
            </a:pPr>
            <a:r>
              <a:rPr sz="900" b="1">
                <a:solidFill>
                  <a:srgbClr val="002D8F"/>
                </a:solidFill>
              </a:rPr>
              <a:t>Encoder</a:t>
            </a:r>
          </a:p>
        </p:txBody>
      </p:sp>
      <p:pic>
        <p:nvPicPr>
          <p:cNvPr id="4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034f2f48a445fa"/>
          <a:srcRect xmlns:a="http://schemas.openxmlformats.org/drawingml/2006/main" l="593" t="0" r="59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86625" y="2581275"/>
            <a:ext cx="666750" cy="733425"/>
          </a:xfrm>
          <a:prstGeom xmlns:a="http://schemas.openxmlformats.org/drawingml/2006/main" prst="roundRect">
            <a:avLst>
              <a:gd name="adj" fmla="val 14286"/>
            </a:avLst>
          </a:prstGeom>
        </p:spPr>
      </p:pic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EB315A5F-EDE9-46B1-8C04-86BB36B86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05050"/>
            <a:ext cx="6191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水印图</a:t>
            </a:r>
          </a:p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Iʷ</a:t>
            </a:r>
          </a:p>
        </p:txBody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06D7FFF0-9B29-43EC-A75E-F959AEFE0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143125"/>
            <a:ext cx="390525" cy="4476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E72D96BA-0DE5-495D-B7C2-1776142B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962275"/>
            <a:ext cx="333375" cy="3524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9BF2FCF4-52A7-4D1D-8F30-ED3E84C34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1809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79540EA2-6C6C-4A49-94BA-CCFF76466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3829050"/>
            <a:ext cx="24765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50501000-8546-4DE8-B693-FBDCE555E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3876675"/>
            <a:ext cx="2286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●  作用：尽可能不可见地把</a:t>
            </a:r>
          </a:p>
          <a:p xmlns:a="http://schemas.openxmlformats.org/drawingml/2006/main">
            <a:pPr algn="l"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side information 藏回原图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9F76F39D-3B00-4239-9F93-D23CBB433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009775"/>
            <a:ext cx="1552575" cy="1457325"/>
          </a:xfrm>
          <a:prstGeom xmlns:a="http://schemas.openxmlformats.org/drawingml/2006/main" prst="roundRect">
            <a:avLst>
              <a:gd name="adj" fmla="val 10458"/>
            </a:avLst>
          </a:prstGeom>
          <a:solidFill xmlns:a="http://schemas.openxmlformats.org/drawingml/2006/main">
            <a:srgbClr val="F4FFFC"/>
          </a:solidFill>
          <a:ln xmlns:a="http://schemas.openxmlformats.org/drawingml/2006/main" w="14288">
            <a:solidFill>
              <a:srgbClr val="006C6C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912E02B7-A1DD-4A8B-8587-F4D727A3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52650"/>
            <a:ext cx="12954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6C6C"/>
                </a:solidFill>
              </a:defRPr>
            </a:pPr>
            <a:r>
              <a:rPr sz="1425" b="1">
                <a:solidFill>
                  <a:srgbClr val="006C6C"/>
                </a:solidFill>
              </a:rPr>
              <a:t>◉</a:t>
            </a:r>
          </a:p>
          <a:p xmlns:a="http://schemas.openxmlformats.org/drawingml/2006/main">
            <a:pPr algn="ctr">
              <a:defRPr sz="1425" b="1">
                <a:solidFill>
                  <a:srgbClr val="006C6C"/>
                </a:solidFill>
              </a:defRPr>
            </a:pPr>
            <a:r>
              <a:rPr sz="1425" b="1">
                <a:solidFill>
                  <a:srgbClr val="006C6C"/>
                </a:solidFill>
              </a:rPr>
              <a:t>Beauty API /</a:t>
            </a:r>
          </a:p>
          <a:p xmlns:a="http://schemas.openxmlformats.org/drawingml/2006/main">
            <a:pPr algn="ctr">
              <a:defRPr sz="1425" b="1">
                <a:solidFill>
                  <a:srgbClr val="006C6C"/>
                </a:solidFill>
              </a:defRPr>
            </a:pPr>
            <a:r>
              <a:rPr sz="1425" b="1">
                <a:solidFill>
                  <a:srgbClr val="006C6C"/>
                </a:solidFill>
              </a:rPr>
              <a:t>Script B(·)</a:t>
            </a:r>
          </a:p>
        </p:txBody>
      </p:sp>
      <p:pic>
        <p:nvPicPr>
          <p:cNvPr id="4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7846d4aad34cb4"/>
          <a:srcRect xmlns:a="http://schemas.openxmlformats.org/drawingml/2006/main" l="1449" t="0" r="144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610850" y="2581275"/>
            <a:ext cx="638175" cy="714375"/>
          </a:xfrm>
          <a:prstGeom xmlns:a="http://schemas.openxmlformats.org/drawingml/2006/main" prst="roundRect">
            <a:avLst>
              <a:gd name="adj" fmla="val 14925"/>
            </a:avLst>
          </a:prstGeom>
        </p:spPr>
      </p:pic>
      <p:sp>
        <p:nvSpPr>
          <p:cNvPr id="164" name="">
            <a:extLst xmlns:a="http://schemas.openxmlformats.org/drawingml/2006/main">
              <a:ext uri="{FF2B5EF4-FFF2-40B4-BE49-F238E27FC236}">
                <a16:creationId xmlns:a16="http://schemas.microsoft.com/office/drawing/2014/main" id="{F49446F5-53A4-4679-B1C1-7CD05929E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0025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美颜后水印图  Iᵇ</a:t>
            </a:r>
          </a:p>
        </p:txBody>
      </p:sp>
      <p:sp>
        <p:nvSpPr>
          <p:cNvPr id="165" name="">
            <a:extLst xmlns:a="http://schemas.openxmlformats.org/drawingml/2006/main">
              <a:ext uri="{FF2B5EF4-FFF2-40B4-BE49-F238E27FC236}">
                <a16:creationId xmlns:a16="http://schemas.microsoft.com/office/drawing/2014/main" id="{DE17D36D-77FD-40B0-8755-EBCE2C275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525" y="26670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166" name="">
            <a:extLst xmlns:a="http://schemas.openxmlformats.org/drawingml/2006/main">
              <a:ext uri="{FF2B5EF4-FFF2-40B4-BE49-F238E27FC236}">
                <a16:creationId xmlns:a16="http://schemas.microsoft.com/office/drawing/2014/main" id="{34E4CA84-D6D0-4C21-821B-4BAF46C4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390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167" name="">
            <a:extLst xmlns:a="http://schemas.openxmlformats.org/drawingml/2006/main">
              <a:ext uri="{FF2B5EF4-FFF2-40B4-BE49-F238E27FC236}">
                <a16:creationId xmlns:a16="http://schemas.microsoft.com/office/drawing/2014/main" id="{573124B5-3104-44A7-8FA3-508BCE44F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19525"/>
            <a:ext cx="23241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168" name="">
            <a:extLst xmlns:a="http://schemas.openxmlformats.org/drawingml/2006/main">
              <a:ext uri="{FF2B5EF4-FFF2-40B4-BE49-F238E27FC236}">
                <a16:creationId xmlns:a16="http://schemas.microsoft.com/office/drawing/2014/main" id="{D3E1D68D-3CA6-43D3-A610-7A124C49B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3867150"/>
            <a:ext cx="2133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●  实验初期：固定接口 +</a:t>
            </a:r>
          </a:p>
          <a:p xmlns:a="http://schemas.openxmlformats.org/drawingml/2006/main">
            <a:pPr algn="l"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固定参数</a:t>
            </a:r>
          </a:p>
        </p:txBody>
      </p:sp>
      <p:sp>
        <p:nvSpPr>
          <p:cNvPr id="169" name="">
            <a:extLst xmlns:a="http://schemas.openxmlformats.org/drawingml/2006/main">
              <a:ext uri="{FF2B5EF4-FFF2-40B4-BE49-F238E27FC236}">
                <a16:creationId xmlns:a16="http://schemas.microsoft.com/office/drawing/2014/main" id="{8F9BEDF3-5103-4B34-8AE8-EB19E197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1075" y="1809750"/>
            <a:ext cx="1524000" cy="1343025"/>
          </a:xfrm>
          <a:prstGeom xmlns:a="http://schemas.openxmlformats.org/drawingml/2006/main" prst="roundRect">
            <a:avLst>
              <a:gd name="adj" fmla="val 12057"/>
            </a:avLst>
          </a:prstGeom>
          <a:solidFill xmlns:a="http://schemas.openxmlformats.org/drawingml/2006/main">
            <a:srgbClr val="E8F8F4"/>
          </a:solidFill>
          <a:ln xmlns:a="http://schemas.openxmlformats.org/drawingml/2006/main" w="14288">
            <a:solidFill>
              <a:srgbClr val="006C6C"/>
            </a:solidFill>
            <a:prstDash val="solid"/>
          </a:ln>
        </p:spPr>
      </p:sp>
      <p:sp>
        <p:nvSpPr>
          <p:cNvPr id="170" name="">
            <a:extLst xmlns:a="http://schemas.openxmlformats.org/drawingml/2006/main">
              <a:ext uri="{FF2B5EF4-FFF2-40B4-BE49-F238E27FC236}">
                <a16:creationId xmlns:a16="http://schemas.microsoft.com/office/drawing/2014/main" id="{1F17D04E-0CC1-40A5-A8D4-E6C1F1E5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1914525"/>
            <a:ext cx="1390650" cy="1133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06C6C"/>
                </a:solidFill>
              </a:defRPr>
            </a:pPr>
            <a:r>
              <a:rPr sz="1200" b="1">
                <a:solidFill>
                  <a:srgbClr val="006C6C"/>
                </a:solidFill>
              </a:rPr>
              <a:t>🔓</a:t>
            </a:r>
          </a:p>
          <a:p xmlns:a="http://schemas.openxmlformats.org/drawingml/2006/main">
            <a:pPr algn="ctr">
              <a:defRPr sz="1200" b="1">
                <a:solidFill>
                  <a:srgbClr val="006C6C"/>
                </a:solidFill>
              </a:defRPr>
            </a:pPr>
            <a:r>
              <a:rPr sz="1200" b="1">
                <a:solidFill>
                  <a:srgbClr val="006C6C"/>
                </a:solidFill>
              </a:rPr>
              <a:t>Beauty-Robust</a:t>
            </a:r>
          </a:p>
          <a:p xmlns:a="http://schemas.openxmlformats.org/drawingml/2006/main">
            <a:pPr algn="ctr">
              <a:defRPr sz="1200" b="1">
                <a:solidFill>
                  <a:srgbClr val="006C6C"/>
                </a:solidFill>
              </a:defRPr>
            </a:pPr>
            <a:r>
              <a:rPr sz="1200" b="1">
                <a:solidFill>
                  <a:srgbClr val="006C6C"/>
                </a:solidFill>
              </a:rPr>
              <a:t>Decoder /</a:t>
            </a:r>
          </a:p>
          <a:p xmlns:a="http://schemas.openxmlformats.org/drawingml/2006/main">
            <a:pPr algn="ctr">
              <a:defRPr sz="1200" b="1">
                <a:solidFill>
                  <a:srgbClr val="006C6C"/>
                </a:solidFill>
              </a:defRPr>
            </a:pPr>
            <a:r>
              <a:rPr sz="1200" b="1">
                <a:solidFill>
                  <a:srgbClr val="006C6C"/>
                </a:solidFill>
              </a:rPr>
              <a:t>INN Inverse</a:t>
            </a:r>
          </a:p>
        </p:txBody>
      </p:sp>
      <p:sp>
        <p:nvSpPr>
          <p:cNvPr id="171" name="">
            <a:extLst xmlns:a="http://schemas.openxmlformats.org/drawingml/2006/main">
              <a:ext uri="{FF2B5EF4-FFF2-40B4-BE49-F238E27FC236}">
                <a16:creationId xmlns:a16="http://schemas.microsoft.com/office/drawing/2014/main" id="{8A285E36-58F7-4B82-91E3-152B127E3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3241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111"/>
                </a:solidFill>
              </a:defRPr>
            </a:pPr>
            <a:r>
              <a:rPr sz="1650" b="1">
                <a:solidFill>
                  <a:srgbClr val="111111"/>
                </a:solidFill>
              </a:rPr>
              <a:t>Iᵇ</a:t>
            </a:r>
          </a:p>
        </p:txBody>
      </p:sp>
      <p:sp>
        <p:nvSpPr>
          <p:cNvPr id="172" name="">
            <a:extLst xmlns:a="http://schemas.openxmlformats.org/drawingml/2006/main">
              <a:ext uri="{FF2B5EF4-FFF2-40B4-BE49-F238E27FC236}">
                <a16:creationId xmlns:a16="http://schemas.microsoft.com/office/drawing/2014/main" id="{0BBC5802-426A-4FAE-80A8-A664E888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2476500"/>
            <a:ext cx="2571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173" name="">
            <a:extLst xmlns:a="http://schemas.openxmlformats.org/drawingml/2006/main">
              <a:ext uri="{FF2B5EF4-FFF2-40B4-BE49-F238E27FC236}">
                <a16:creationId xmlns:a16="http://schemas.microsoft.com/office/drawing/2014/main" id="{4EA6BDF3-BA49-44F8-8FED-E7A7D557A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1704975"/>
            <a:ext cx="7905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C7A37"/>
            </a:solidFill>
            <a:prstDash val="solid"/>
          </a:ln>
        </p:spPr>
      </p:sp>
      <p:sp>
        <p:nvSpPr>
          <p:cNvPr id="174" name="">
            <a:extLst xmlns:a="http://schemas.openxmlformats.org/drawingml/2006/main">
              <a:ext uri="{FF2B5EF4-FFF2-40B4-BE49-F238E27FC236}">
                <a16:creationId xmlns:a16="http://schemas.microsoft.com/office/drawing/2014/main" id="{8304FF90-5DE2-47E4-9C57-8B564F88D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17621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Ĉ</a:t>
            </a:r>
          </a:p>
        </p:txBody>
      </p:sp>
      <p:sp>
        <p:nvSpPr>
          <p:cNvPr id="175" name="">
            <a:extLst xmlns:a="http://schemas.openxmlformats.org/drawingml/2006/main">
              <a:ext uri="{FF2B5EF4-FFF2-40B4-BE49-F238E27FC236}">
                <a16:creationId xmlns:a16="http://schemas.microsoft.com/office/drawing/2014/main" id="{ADF23FBA-CAA3-4DE5-B068-87C42E2D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18954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176" name="">
            <a:extLst xmlns:a="http://schemas.openxmlformats.org/drawingml/2006/main">
              <a:ext uri="{FF2B5EF4-FFF2-40B4-BE49-F238E27FC236}">
                <a16:creationId xmlns:a16="http://schemas.microsoft.com/office/drawing/2014/main" id="{7477F98A-B49F-444F-8A01-0D1410AC9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2276475"/>
            <a:ext cx="7905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C7A37"/>
            </a:solidFill>
            <a:prstDash val="solid"/>
          </a:ln>
        </p:spPr>
      </p:sp>
      <p:sp>
        <p:nvSpPr>
          <p:cNvPr id="177" name="">
            <a:extLst xmlns:a="http://schemas.openxmlformats.org/drawingml/2006/main">
              <a:ext uri="{FF2B5EF4-FFF2-40B4-BE49-F238E27FC236}">
                <a16:creationId xmlns:a16="http://schemas.microsoft.com/office/drawing/2014/main" id="{FE7406B0-CC34-4044-B8EA-FA21FA09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23336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Îᶫᶫₒ</a:t>
            </a:r>
          </a:p>
        </p:txBody>
      </p:sp>
      <p:sp>
        <p:nvSpPr>
          <p:cNvPr id="178" name="">
            <a:extLst xmlns:a="http://schemas.openxmlformats.org/drawingml/2006/main">
              <a:ext uri="{FF2B5EF4-FFF2-40B4-BE49-F238E27FC236}">
                <a16:creationId xmlns:a16="http://schemas.microsoft.com/office/drawing/2014/main" id="{CCB1E0B8-104C-4176-9D7D-17036D03C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24669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179" name="">
            <a:extLst xmlns:a="http://schemas.openxmlformats.org/drawingml/2006/main">
              <a:ext uri="{FF2B5EF4-FFF2-40B4-BE49-F238E27FC236}">
                <a16:creationId xmlns:a16="http://schemas.microsoft.com/office/drawing/2014/main" id="{9E82FA03-8D2A-4A4F-9A22-9CA237848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7075" y="2847975"/>
            <a:ext cx="790575" cy="3810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C7A37"/>
            </a:solidFill>
            <a:prstDash val="solid"/>
          </a:ln>
        </p:spPr>
      </p:sp>
      <p:sp>
        <p:nvSpPr>
          <p:cNvPr id="180" name="">
            <a:extLst xmlns:a="http://schemas.openxmlformats.org/drawingml/2006/main">
              <a:ext uri="{FF2B5EF4-FFF2-40B4-BE49-F238E27FC236}">
                <a16:creationId xmlns:a16="http://schemas.microsoft.com/office/drawing/2014/main" id="{71886682-4E18-4C4F-A4B0-BE1DC1DA9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0" y="2905125"/>
            <a:ext cx="6477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ẑᴴ</a:t>
            </a:r>
          </a:p>
        </p:txBody>
      </p:sp>
      <p:sp>
        <p:nvSpPr>
          <p:cNvPr id="181" name="">
            <a:extLst xmlns:a="http://schemas.openxmlformats.org/drawingml/2006/main">
              <a:ext uri="{FF2B5EF4-FFF2-40B4-BE49-F238E27FC236}">
                <a16:creationId xmlns:a16="http://schemas.microsoft.com/office/drawing/2014/main" id="{9B72B825-368E-44F6-A96E-CC93E2AAA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58875" y="3038475"/>
            <a:ext cx="685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182" name="">
            <a:extLst xmlns:a="http://schemas.openxmlformats.org/drawingml/2006/main">
              <a:ext uri="{FF2B5EF4-FFF2-40B4-BE49-F238E27FC236}">
                <a16:creationId xmlns:a16="http://schemas.microsoft.com/office/drawing/2014/main" id="{D298D618-622E-4AC6-85BB-D505020F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25300" y="3476625"/>
            <a:ext cx="2609850" cy="733425"/>
          </a:xfrm>
          <a:prstGeom xmlns:a="http://schemas.openxmlformats.org/drawingml/2006/main" prst="roundRect">
            <a:avLst>
              <a:gd name="adj" fmla="val 12987"/>
            </a:avLst>
          </a:prstGeom>
          <a:solidFill xmlns:a="http://schemas.openxmlformats.org/drawingml/2006/main">
            <a:srgbClr val="F7FBF5"/>
          </a:solidFill>
          <a:ln xmlns:a="http://schemas.openxmlformats.org/drawingml/2006/main" w="14288">
            <a:solidFill>
              <a:srgbClr val="2C7A37"/>
            </a:solidFill>
            <a:prstDash val="solid"/>
          </a:ln>
        </p:spPr>
      </p:sp>
      <p:sp>
        <p:nvSpPr>
          <p:cNvPr id="183" name="">
            <a:extLst xmlns:a="http://schemas.openxmlformats.org/drawingml/2006/main">
              <a:ext uri="{FF2B5EF4-FFF2-40B4-BE49-F238E27FC236}">
                <a16:creationId xmlns:a16="http://schemas.microsoft.com/office/drawing/2014/main" id="{9066143B-8A26-499B-86FB-83F5D56A6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25" y="3562350"/>
            <a:ext cx="2362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✓  这一部分借鉴 SSD / 可逆隐写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思想，但指标改成对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beauty 友好</a:t>
            </a:r>
          </a:p>
        </p:txBody>
      </p:sp>
      <p:sp>
        <p:nvSpPr>
          <p:cNvPr id="184" name="">
            <a:extLst xmlns:a="http://schemas.openxmlformats.org/drawingml/2006/main">
              <a:ext uri="{FF2B5EF4-FFF2-40B4-BE49-F238E27FC236}">
                <a16:creationId xmlns:a16="http://schemas.microsoft.com/office/drawing/2014/main" id="{851AC63F-B482-4F78-B0CB-C8014861A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" y="4772025"/>
            <a:ext cx="6610350" cy="3019425"/>
          </a:xfrm>
          <a:prstGeom xmlns:a="http://schemas.openxmlformats.org/drawingml/2006/main" prst="roundRect">
            <a:avLst>
              <a:gd name="adj" fmla="val 56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185" name="">
            <a:extLst xmlns:a="http://schemas.openxmlformats.org/drawingml/2006/main">
              <a:ext uri="{FF2B5EF4-FFF2-40B4-BE49-F238E27FC236}">
                <a16:creationId xmlns:a16="http://schemas.microsoft.com/office/drawing/2014/main" id="{35D2FDF6-E5BC-49F0-8C30-928E4553A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772025"/>
            <a:ext cx="2971800" cy="3019425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186" name="">
            <a:extLst xmlns:a="http://schemas.openxmlformats.org/drawingml/2006/main">
              <a:ext uri="{FF2B5EF4-FFF2-40B4-BE49-F238E27FC236}">
                <a16:creationId xmlns:a16="http://schemas.microsoft.com/office/drawing/2014/main" id="{086A4C1E-552B-4E97-97B1-6FA39F614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44125" y="4772025"/>
            <a:ext cx="5562600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187" name="">
            <a:extLst xmlns:a="http://schemas.openxmlformats.org/drawingml/2006/main">
              <a:ext uri="{FF2B5EF4-FFF2-40B4-BE49-F238E27FC236}">
                <a16:creationId xmlns:a16="http://schemas.microsoft.com/office/drawing/2014/main" id="{51C0BA3B-FCFE-474B-92AB-6BED7C7CA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848225"/>
            <a:ext cx="26860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3B94"/>
          </a:solidFill>
          <a:ln xmlns:a="http://schemas.openxmlformats.org/drawingml/2006/main" w="14288">
            <a:solidFill>
              <a:srgbClr val="003B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5) 形变场估计</a:t>
            </a:r>
          </a:p>
        </p:txBody>
      </p:sp>
      <p:sp>
        <p:nvSpPr>
          <p:cNvPr id="188" name="">
            <a:extLst xmlns:a="http://schemas.openxmlformats.org/drawingml/2006/main">
              <a:ext uri="{FF2B5EF4-FFF2-40B4-BE49-F238E27FC236}">
                <a16:creationId xmlns:a16="http://schemas.microsoft.com/office/drawing/2014/main" id="{BF2C7A45-2F7A-4C27-AD14-A89E2380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848225"/>
            <a:ext cx="201930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3B94"/>
          </a:solidFill>
          <a:ln xmlns:a="http://schemas.openxmlformats.org/drawingml/2006/main" w="14288">
            <a:solidFill>
              <a:srgbClr val="003B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6) 显式逆几何恢复</a:t>
            </a:r>
          </a:p>
        </p:txBody>
      </p:sp>
      <p:sp>
        <p:nvSpPr>
          <p:cNvPr id="189" name="">
            <a:extLst xmlns:a="http://schemas.openxmlformats.org/drawingml/2006/main">
              <a:ext uri="{FF2B5EF4-FFF2-40B4-BE49-F238E27FC236}">
                <a16:creationId xmlns:a16="http://schemas.microsoft.com/office/drawing/2014/main" id="{F59FAD03-8CED-48EF-A981-5F397C40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4848225"/>
            <a:ext cx="1762125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03B94"/>
          </a:solidFill>
          <a:ln xmlns:a="http://schemas.openxmlformats.org/drawingml/2006/main" w="14288">
            <a:solidFill>
              <a:srgbClr val="003B94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</a:defRPr>
            </a:pPr>
            <a:r>
              <a:rPr sz="1425" b="1">
                <a:solidFill>
                  <a:srgbClr val="FFFFFF"/>
                </a:solidFill>
              </a:rPr>
              <a:t>7) 外观细节恢复</a:t>
            </a:r>
          </a:p>
        </p:txBody>
      </p:sp>
      <p:sp>
        <p:nvSpPr>
          <p:cNvPr id="190" name="">
            <a:extLst xmlns:a="http://schemas.openxmlformats.org/drawingml/2006/main">
              <a:ext uri="{FF2B5EF4-FFF2-40B4-BE49-F238E27FC236}">
                <a16:creationId xmlns:a16="http://schemas.microsoft.com/office/drawing/2014/main" id="{91B049C6-79D3-434F-979E-E83CADF27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5162550"/>
            <a:ext cx="278130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8FFF8"/>
          </a:solidFill>
          <a:ln xmlns:a="http://schemas.openxmlformats.org/drawingml/2006/main" w="14288">
            <a:solidFill>
              <a:srgbClr val="2C7A37"/>
            </a:solidFill>
            <a:prstDash val="solid"/>
          </a:ln>
        </p:spPr>
      </p:sp>
      <p:sp>
        <p:nvSpPr>
          <p:cNvPr id="191" name="">
            <a:extLst xmlns:a="http://schemas.openxmlformats.org/drawingml/2006/main">
              <a:ext uri="{FF2B5EF4-FFF2-40B4-BE49-F238E27FC236}">
                <a16:creationId xmlns:a16="http://schemas.microsoft.com/office/drawing/2014/main" id="{B1719466-7394-46B4-B135-854A0847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19700"/>
            <a:ext cx="2190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C7A37"/>
                </a:solidFill>
              </a:defRPr>
            </a:pPr>
            <a:r>
              <a:rPr sz="1050" b="1">
                <a:solidFill>
                  <a:srgbClr val="2C7A37"/>
                </a:solidFill>
              </a:rPr>
              <a:t>Route A: Coordinate-based</a:t>
            </a:r>
          </a:p>
        </p:txBody>
      </p:sp>
      <p:sp>
        <p:nvSpPr>
          <p:cNvPr id="192" name="">
            <a:extLst xmlns:a="http://schemas.openxmlformats.org/drawingml/2006/main">
              <a:ext uri="{FF2B5EF4-FFF2-40B4-BE49-F238E27FC236}">
                <a16:creationId xmlns:a16="http://schemas.microsoft.com/office/drawing/2014/main" id="{B0CDAF7E-854D-443E-B045-6085BD1F0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102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193" name="">
            <a:extLst xmlns:a="http://schemas.openxmlformats.org/drawingml/2006/main">
              <a:ext uri="{FF2B5EF4-FFF2-40B4-BE49-F238E27FC236}">
                <a16:creationId xmlns:a16="http://schemas.microsoft.com/office/drawing/2014/main" id="{79973072-7F93-4EFD-A57E-D681CBC1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102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194" name="">
            <a:extLst xmlns:a="http://schemas.openxmlformats.org/drawingml/2006/main">
              <a:ext uri="{FF2B5EF4-FFF2-40B4-BE49-F238E27FC236}">
                <a16:creationId xmlns:a16="http://schemas.microsoft.com/office/drawing/2014/main" id="{DA2104EC-FD70-4054-88F4-7659930F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4102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195" name="">
            <a:extLst xmlns:a="http://schemas.openxmlformats.org/drawingml/2006/main">
              <a:ext uri="{FF2B5EF4-FFF2-40B4-BE49-F238E27FC236}">
                <a16:creationId xmlns:a16="http://schemas.microsoft.com/office/drawing/2014/main" id="{F0D233C3-EA79-4A30-AD7B-30F7986D6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5054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196" name="">
            <a:extLst xmlns:a="http://schemas.openxmlformats.org/drawingml/2006/main">
              <a:ext uri="{FF2B5EF4-FFF2-40B4-BE49-F238E27FC236}">
                <a16:creationId xmlns:a16="http://schemas.microsoft.com/office/drawing/2014/main" id="{B2D7026F-45CF-4295-9DD4-AB0C44CF4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4102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197" name="">
            <a:extLst xmlns:a="http://schemas.openxmlformats.org/drawingml/2006/main">
              <a:ext uri="{FF2B5EF4-FFF2-40B4-BE49-F238E27FC236}">
                <a16:creationId xmlns:a16="http://schemas.microsoft.com/office/drawing/2014/main" id="{5ABF5B22-734F-409E-B145-783D6CF10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007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198" name="">
            <a:extLst xmlns:a="http://schemas.openxmlformats.org/drawingml/2006/main">
              <a:ext uri="{FF2B5EF4-FFF2-40B4-BE49-F238E27FC236}">
                <a16:creationId xmlns:a16="http://schemas.microsoft.com/office/drawing/2014/main" id="{C68D2F0D-93FC-475E-BD6B-8E05A4880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102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199" name="">
            <a:extLst xmlns:a="http://schemas.openxmlformats.org/drawingml/2006/main">
              <a:ext uri="{FF2B5EF4-FFF2-40B4-BE49-F238E27FC236}">
                <a16:creationId xmlns:a16="http://schemas.microsoft.com/office/drawing/2014/main" id="{ECCBF032-6110-461E-98A7-FDFEA1E23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6959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200" name="">
            <a:extLst xmlns:a="http://schemas.openxmlformats.org/drawingml/2006/main">
              <a:ext uri="{FF2B5EF4-FFF2-40B4-BE49-F238E27FC236}">
                <a16:creationId xmlns:a16="http://schemas.microsoft.com/office/drawing/2014/main" id="{72BB52D0-FFCD-4F64-8FD9-FA62EF49F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54102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201" name="">
            <a:extLst xmlns:a="http://schemas.openxmlformats.org/drawingml/2006/main">
              <a:ext uri="{FF2B5EF4-FFF2-40B4-BE49-F238E27FC236}">
                <a16:creationId xmlns:a16="http://schemas.microsoft.com/office/drawing/2014/main" id="{F99CBA74-4F97-4468-9DF7-FAFC0401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7912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202" name="">
            <a:extLst xmlns:a="http://schemas.openxmlformats.org/drawingml/2006/main">
              <a:ext uri="{FF2B5EF4-FFF2-40B4-BE49-F238E27FC236}">
                <a16:creationId xmlns:a16="http://schemas.microsoft.com/office/drawing/2014/main" id="{04B21875-31BC-439C-B97A-AD447F432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4102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203" name="">
            <a:extLst xmlns:a="http://schemas.openxmlformats.org/drawingml/2006/main">
              <a:ext uri="{FF2B5EF4-FFF2-40B4-BE49-F238E27FC236}">
                <a16:creationId xmlns:a16="http://schemas.microsoft.com/office/drawing/2014/main" id="{B235E80A-2E73-41C9-85D8-84EA841E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88645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204" name="">
            <a:extLst xmlns:a="http://schemas.openxmlformats.org/drawingml/2006/main">
              <a:ext uri="{FF2B5EF4-FFF2-40B4-BE49-F238E27FC236}">
                <a16:creationId xmlns:a16="http://schemas.microsoft.com/office/drawing/2014/main" id="{E3129D57-9D60-4545-BDFC-09BF5F53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5410200"/>
            <a:ext cx="0" cy="571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205" name="">
            <a:extLst xmlns:a="http://schemas.openxmlformats.org/drawingml/2006/main">
              <a:ext uri="{FF2B5EF4-FFF2-40B4-BE49-F238E27FC236}">
                <a16:creationId xmlns:a16="http://schemas.microsoft.com/office/drawing/2014/main" id="{D71C5918-068A-4973-97E6-5E438CBA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981700"/>
            <a:ext cx="7429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">
            <a:solidFill>
              <a:srgbClr val="2358A6"/>
            </a:solidFill>
            <a:prstDash val="solid"/>
          </a:ln>
        </p:spPr>
      </p:sp>
      <p:sp>
        <p:nvSpPr>
          <p:cNvPr id="206" name="">
            <a:extLst xmlns:a="http://schemas.openxmlformats.org/drawingml/2006/main">
              <a:ext uri="{FF2B5EF4-FFF2-40B4-BE49-F238E27FC236}">
                <a16:creationId xmlns:a16="http://schemas.microsoft.com/office/drawing/2014/main" id="{E7110B10-A539-46CC-B841-247307DEF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086475"/>
            <a:ext cx="16287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111111"/>
                </a:solidFill>
              </a:defRPr>
            </a:pPr>
            <a:r>
              <a:rPr sz="1275" b="0">
                <a:solidFill>
                  <a:srgbClr val="111111"/>
                </a:solidFill>
              </a:rPr>
              <a:t>Ĉ     →    Fcoord</a:t>
            </a:r>
          </a:p>
        </p:txBody>
      </p:sp>
      <p:sp>
        <p:nvSpPr>
          <p:cNvPr id="207" name="">
            <a:extLst xmlns:a="http://schemas.openxmlformats.org/drawingml/2006/main">
              <a:ext uri="{FF2B5EF4-FFF2-40B4-BE49-F238E27FC236}">
                <a16:creationId xmlns:a16="http://schemas.microsoft.com/office/drawing/2014/main" id="{F2403847-A40F-4BD7-96FD-199AFC91B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34125"/>
            <a:ext cx="2190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11111"/>
                </a:solidFill>
              </a:defRPr>
            </a:pPr>
            <a:r>
              <a:rPr sz="1050" b="1">
                <a:solidFill>
                  <a:srgbClr val="111111"/>
                </a:solidFill>
              </a:rPr>
              <a:t>直接从恢复坐标估计形变</a:t>
            </a:r>
          </a:p>
        </p:txBody>
      </p:sp>
      <p:sp>
        <p:nvSpPr>
          <p:cNvPr id="208" name="">
            <a:extLst xmlns:a="http://schemas.openxmlformats.org/drawingml/2006/main">
              <a:ext uri="{FF2B5EF4-FFF2-40B4-BE49-F238E27FC236}">
                <a16:creationId xmlns:a16="http://schemas.microsoft.com/office/drawing/2014/main" id="{CADA472D-E93D-4B80-8E0B-CF70B49F4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5162550"/>
            <a:ext cx="3028950" cy="1438275"/>
          </a:xfrm>
          <a:prstGeom xmlns:a="http://schemas.openxmlformats.org/drawingml/2006/main" prst="roundRect">
            <a:avLst>
              <a:gd name="adj" fmla="val 7947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209" name="">
            <a:extLst xmlns:a="http://schemas.openxmlformats.org/drawingml/2006/main">
              <a:ext uri="{FF2B5EF4-FFF2-40B4-BE49-F238E27FC236}">
                <a16:creationId xmlns:a16="http://schemas.microsoft.com/office/drawing/2014/main" id="{7DC5E0E5-66F9-4CE4-8A20-0580F81D7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521970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01C62"/>
                </a:solidFill>
              </a:defRPr>
            </a:pPr>
            <a:r>
              <a:rPr sz="1050" b="1">
                <a:solidFill>
                  <a:srgbClr val="001C62"/>
                </a:solidFill>
              </a:rPr>
              <a:t>Route B: Registration-based</a:t>
            </a:r>
          </a:p>
        </p:txBody>
      </p:sp>
      <p:pic>
        <p:nvPicPr>
          <p:cNvPr id="4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bdd1f4a2df4237"/>
          <a:srcRect xmlns:a="http://schemas.openxmlformats.org/drawingml/2006/main" l="0" t="14222" r="0" b="14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1375" y="5457825"/>
            <a:ext cx="685800" cy="533400"/>
          </a:xfrm>
          <a:prstGeom xmlns:a="http://schemas.openxmlformats.org/drawingml/2006/main" prst="roundRect">
            <a:avLst>
              <a:gd name="adj" fmla="val 17857"/>
            </a:avLst>
          </a:prstGeom>
        </p:spPr>
      </p:pic>
      <p:pic>
        <p:nvPicPr>
          <p:cNvPr id="47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c20876a15848f6"/>
          <a:srcRect xmlns:a="http://schemas.openxmlformats.org/drawingml/2006/main" l="0" t="14222" r="0" b="142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457825" y="5457825"/>
            <a:ext cx="685800" cy="533400"/>
          </a:xfrm>
          <a:prstGeom xmlns:a="http://schemas.openxmlformats.org/drawingml/2006/main" prst="roundRect">
            <a:avLst>
              <a:gd name="adj" fmla="val 17857"/>
            </a:avLst>
          </a:prstGeom>
        </p:spPr>
      </p:pic>
      <p:sp>
        <p:nvSpPr>
          <p:cNvPr id="212" name="">
            <a:extLst xmlns:a="http://schemas.openxmlformats.org/drawingml/2006/main">
              <a:ext uri="{FF2B5EF4-FFF2-40B4-BE49-F238E27FC236}">
                <a16:creationId xmlns:a16="http://schemas.microsoft.com/office/drawing/2014/main" id="{9BF15FCB-C107-416B-9CB6-9FE309BC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60198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Îᶫᶫₒ</a:t>
            </a:r>
          </a:p>
        </p:txBody>
      </p:sp>
      <p:sp>
        <p:nvSpPr>
          <p:cNvPr id="213" name="">
            <a:extLst xmlns:a="http://schemas.openxmlformats.org/drawingml/2006/main">
              <a:ext uri="{FF2B5EF4-FFF2-40B4-BE49-F238E27FC236}">
                <a16:creationId xmlns:a16="http://schemas.microsoft.com/office/drawing/2014/main" id="{77D3289C-C249-4DF2-B7D7-BE4F89F8A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6019800"/>
            <a:ext cx="4762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Iᶫᶫᵇ</a:t>
            </a:r>
          </a:p>
        </p:txBody>
      </p:sp>
      <p:sp>
        <p:nvSpPr>
          <p:cNvPr id="214" name="">
            <a:extLst xmlns:a="http://schemas.openxmlformats.org/drawingml/2006/main">
              <a:ext uri="{FF2B5EF4-FFF2-40B4-BE49-F238E27FC236}">
                <a16:creationId xmlns:a16="http://schemas.microsoft.com/office/drawing/2014/main" id="{82A4E054-2B59-47D1-8670-BF2CE9CAF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9975" y="6172200"/>
            <a:ext cx="23812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11111"/>
                </a:solidFill>
              </a:defRPr>
            </a:pPr>
            <a:r>
              <a:rPr sz="1050" b="0">
                <a:solidFill>
                  <a:srgbClr val="111111"/>
                </a:solidFill>
              </a:rPr>
              <a:t>FlowNet (Îᶫᶫₒ, Iᶫᶫᵇ)  →  Fimg</a:t>
            </a:r>
          </a:p>
        </p:txBody>
      </p:sp>
      <p:sp>
        <p:nvSpPr>
          <p:cNvPr id="215" name="">
            <a:extLst xmlns:a="http://schemas.openxmlformats.org/drawingml/2006/main">
              <a:ext uri="{FF2B5EF4-FFF2-40B4-BE49-F238E27FC236}">
                <a16:creationId xmlns:a16="http://schemas.microsoft.com/office/drawing/2014/main" id="{B9567CB2-FEFC-4CB8-9580-4021E26C3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0425" y="6400800"/>
            <a:ext cx="28098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11111"/>
                </a:solidFill>
              </a:defRPr>
            </a:pPr>
            <a:r>
              <a:rPr sz="900" b="0">
                <a:solidFill>
                  <a:srgbClr val="111111"/>
                </a:solidFill>
              </a:rPr>
              <a:t>恢复参考图与当前低频图做配准 / 光流</a:t>
            </a:r>
          </a:p>
        </p:txBody>
      </p:sp>
      <p:sp>
        <p:nvSpPr>
          <p:cNvPr id="216" name="">
            <a:extLst xmlns:a="http://schemas.openxmlformats.org/drawingml/2006/main">
              <a:ext uri="{FF2B5EF4-FFF2-40B4-BE49-F238E27FC236}">
                <a16:creationId xmlns:a16="http://schemas.microsoft.com/office/drawing/2014/main" id="{CCD2A958-D62D-48C3-9736-8168E67FD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6886575"/>
            <a:ext cx="2162175" cy="466725"/>
          </a:xfrm>
          <a:prstGeom xmlns:a="http://schemas.openxmlformats.org/drawingml/2006/main" prst="roundRect">
            <a:avLst>
              <a:gd name="adj" fmla="val 20408"/>
            </a:avLst>
          </a:prstGeom>
          <a:solidFill xmlns:a="http://schemas.openxmlformats.org/drawingml/2006/main">
            <a:srgbClr val="FBF7FF"/>
          </a:solidFill>
          <a:ln xmlns:a="http://schemas.openxmlformats.org/drawingml/2006/main" w="14288">
            <a:solidFill>
              <a:srgbClr val="4A22A4"/>
            </a:solidFill>
            <a:prstDash val="solid"/>
          </a:ln>
        </p:spPr>
      </p:sp>
      <p:sp>
        <p:nvSpPr>
          <p:cNvPr id="217" name="">
            <a:extLst xmlns:a="http://schemas.openxmlformats.org/drawingml/2006/main">
              <a:ext uri="{FF2B5EF4-FFF2-40B4-BE49-F238E27FC236}">
                <a16:creationId xmlns:a16="http://schemas.microsoft.com/office/drawing/2014/main" id="{B6442264-F3EE-4997-98A5-D8683744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6924675"/>
            <a:ext cx="192405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4A22A4"/>
                </a:solidFill>
              </a:defRPr>
            </a:pPr>
            <a:r>
              <a:rPr sz="1200" b="1">
                <a:solidFill>
                  <a:srgbClr val="4A22A4"/>
                </a:solidFill>
              </a:rPr>
              <a:t>Flow Fusion /</a:t>
            </a:r>
          </a:p>
          <a:p xmlns:a="http://schemas.openxmlformats.org/drawingml/2006/main">
            <a:pPr algn="ctr">
              <a:defRPr sz="1200" b="1">
                <a:solidFill>
                  <a:srgbClr val="4A22A4"/>
                </a:solidFill>
              </a:defRPr>
            </a:pPr>
            <a:r>
              <a:rPr sz="1200" b="1">
                <a:solidFill>
                  <a:srgbClr val="4A22A4"/>
                </a:solidFill>
              </a:rPr>
              <a:t>Confidence Merge</a:t>
            </a:r>
          </a:p>
        </p:txBody>
      </p:sp>
      <p:sp>
        <p:nvSpPr>
          <p:cNvPr id="218" name="">
            <a:extLst xmlns:a="http://schemas.openxmlformats.org/drawingml/2006/main">
              <a:ext uri="{FF2B5EF4-FFF2-40B4-BE49-F238E27FC236}">
                <a16:creationId xmlns:a16="http://schemas.microsoft.com/office/drawing/2014/main" id="{FAB96451-D586-4339-B512-44DED4C6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7458075"/>
            <a:ext cx="1343025" cy="276225"/>
          </a:xfrm>
          <a:prstGeom xmlns:a="http://schemas.openxmlformats.org/drawingml/2006/main" prst="roundRect">
            <a:avLst>
              <a:gd name="adj" fmla="val 275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219" name="">
            <a:extLst xmlns:a="http://schemas.openxmlformats.org/drawingml/2006/main">
              <a:ext uri="{FF2B5EF4-FFF2-40B4-BE49-F238E27FC236}">
                <a16:creationId xmlns:a16="http://schemas.microsoft.com/office/drawing/2014/main" id="{E41A4342-4B09-447D-BA12-516CC648B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7477125"/>
            <a:ext cx="4286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F̂</a:t>
            </a:r>
          </a:p>
        </p:txBody>
      </p:sp>
      <p:sp>
        <p:nvSpPr>
          <p:cNvPr id="220" name="">
            <a:extLst xmlns:a="http://schemas.openxmlformats.org/drawingml/2006/main">
              <a:ext uri="{FF2B5EF4-FFF2-40B4-BE49-F238E27FC236}">
                <a16:creationId xmlns:a16="http://schemas.microsoft.com/office/drawing/2014/main" id="{FDAC3419-8839-4FCF-BCEB-4A562B3B3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6600825"/>
            <a:ext cx="124777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221" name="">
            <a:extLst xmlns:a="http://schemas.openxmlformats.org/drawingml/2006/main">
              <a:ext uri="{FF2B5EF4-FFF2-40B4-BE49-F238E27FC236}">
                <a16:creationId xmlns:a16="http://schemas.microsoft.com/office/drawing/2014/main" id="{B12FB6B6-87BE-4A00-96E6-CF7F75636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6600825"/>
            <a:ext cx="1647825" cy="2571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222" name="">
            <a:extLst xmlns:a="http://schemas.openxmlformats.org/drawingml/2006/main">
              <a:ext uri="{FF2B5EF4-FFF2-40B4-BE49-F238E27FC236}">
                <a16:creationId xmlns:a16="http://schemas.microsoft.com/office/drawing/2014/main" id="{086CFB39-ABD9-4FE1-A52B-FBC0B47E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8025" y="7353300"/>
            <a:ext cx="0" cy="76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223" name="">
            <a:extLst xmlns:a="http://schemas.openxmlformats.org/drawingml/2006/main">
              <a:ext uri="{FF2B5EF4-FFF2-40B4-BE49-F238E27FC236}">
                <a16:creationId xmlns:a16="http://schemas.microsoft.com/office/drawing/2014/main" id="{3F837154-AEE9-4BBF-965E-1D1535C16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7058025"/>
            <a:ext cx="152400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224" name="">
            <a:extLst xmlns:a="http://schemas.openxmlformats.org/drawingml/2006/main">
              <a:ext uri="{FF2B5EF4-FFF2-40B4-BE49-F238E27FC236}">
                <a16:creationId xmlns:a16="http://schemas.microsoft.com/office/drawing/2014/main" id="{C3071AFB-DAB8-4EBD-A72B-BAF3244E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71056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●  推荐：A + B 联合，</a:t>
            </a:r>
          </a:p>
          <a:p xmlns:a="http://schemas.openxmlformats.org/drawingml/2006/main">
            <a:pPr algn="l"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提高稳健性</a:t>
            </a:r>
          </a:p>
        </p:txBody>
      </p:sp>
      <p:sp>
        <p:nvSpPr>
          <p:cNvPr id="225" name="">
            <a:extLst xmlns:a="http://schemas.openxmlformats.org/drawingml/2006/main">
              <a:ext uri="{FF2B5EF4-FFF2-40B4-BE49-F238E27FC236}">
                <a16:creationId xmlns:a16="http://schemas.microsoft.com/office/drawing/2014/main" id="{6BB9EF72-3BDE-49CE-9CF0-B9753CEB2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5229225"/>
            <a:ext cx="1390650" cy="352425"/>
          </a:xfrm>
          <a:prstGeom xmlns:a="http://schemas.openxmlformats.org/drawingml/2006/main" prst="roundRect">
            <a:avLst>
              <a:gd name="adj" fmla="val 216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226" name="">
            <a:extLst xmlns:a="http://schemas.openxmlformats.org/drawingml/2006/main">
              <a:ext uri="{FF2B5EF4-FFF2-40B4-BE49-F238E27FC236}">
                <a16:creationId xmlns:a16="http://schemas.microsoft.com/office/drawing/2014/main" id="{4A87746E-49B3-4013-B0C0-DD3BA592A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5267325"/>
            <a:ext cx="10096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111111"/>
                </a:solidFill>
              </a:defRPr>
            </a:pPr>
            <a:r>
              <a:rPr sz="1425" b="0">
                <a:solidFill>
                  <a:srgbClr val="111111"/>
                </a:solidFill>
              </a:rPr>
              <a:t>Iᵇ + F̂</a:t>
            </a:r>
          </a:p>
        </p:txBody>
      </p:sp>
      <p:sp>
        <p:nvSpPr>
          <p:cNvPr id="227" name="">
            <a:extLst xmlns:a="http://schemas.openxmlformats.org/drawingml/2006/main">
              <a:ext uri="{FF2B5EF4-FFF2-40B4-BE49-F238E27FC236}">
                <a16:creationId xmlns:a16="http://schemas.microsoft.com/office/drawing/2014/main" id="{5B9A612D-2946-492E-BEC9-BA21A7A6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5581650"/>
            <a:ext cx="0" cy="1619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228" name="">
            <a:extLst xmlns:a="http://schemas.openxmlformats.org/drawingml/2006/main">
              <a:ext uri="{FF2B5EF4-FFF2-40B4-BE49-F238E27FC236}">
                <a16:creationId xmlns:a16="http://schemas.microsoft.com/office/drawing/2014/main" id="{3740E70E-4440-4A89-A506-552AB609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5781675"/>
            <a:ext cx="1676400" cy="1066800"/>
          </a:xfrm>
          <a:prstGeom xmlns:a="http://schemas.openxmlformats.org/drawingml/2006/main" prst="roundRect">
            <a:avLst>
              <a:gd name="adj" fmla="val 8929"/>
            </a:avLst>
          </a:prstGeom>
          <a:solidFill xmlns:a="http://schemas.openxmlformats.org/drawingml/2006/main">
            <a:srgbClr val="FCF9FF"/>
          </a:solidFill>
          <a:ln xmlns:a="http://schemas.openxmlformats.org/drawingml/2006/main" w="14288">
            <a:solidFill>
              <a:srgbClr val="4A22A4"/>
            </a:solidFill>
            <a:prstDash val="solid"/>
          </a:ln>
        </p:spPr>
      </p:sp>
      <p:sp>
        <p:nvSpPr>
          <p:cNvPr id="229" name="">
            <a:extLst xmlns:a="http://schemas.openxmlformats.org/drawingml/2006/main">
              <a:ext uri="{FF2B5EF4-FFF2-40B4-BE49-F238E27FC236}">
                <a16:creationId xmlns:a16="http://schemas.microsoft.com/office/drawing/2014/main" id="{0B7F562A-EF5E-4D50-8885-0616FFBE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5867400"/>
            <a:ext cx="14859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A22A4"/>
                </a:solidFill>
              </a:defRPr>
            </a:pPr>
            <a:r>
              <a:rPr sz="1350" b="1">
                <a:solidFill>
                  <a:srgbClr val="4A22A4"/>
                </a:solidFill>
              </a:rPr>
              <a:t>Inverse Warp /</a:t>
            </a:r>
          </a:p>
          <a:p xmlns:a="http://schemas.openxmlformats.org/drawingml/2006/main">
            <a:pPr algn="ctr">
              <a:defRPr sz="1350" b="1">
                <a:solidFill>
                  <a:srgbClr val="4A22A4"/>
                </a:solidFill>
              </a:defRPr>
            </a:pPr>
            <a:r>
              <a:rPr sz="1350" b="1">
                <a:solidFill>
                  <a:srgbClr val="4A22A4"/>
                </a:solidFill>
              </a:rPr>
              <a:t>grid_sample</a:t>
            </a:r>
          </a:p>
          <a:p xmlns:a="http://schemas.openxmlformats.org/drawingml/2006/main">
            <a:pPr algn="ctr">
              <a:defRPr sz="1350" b="1">
                <a:solidFill>
                  <a:srgbClr val="4A22A4"/>
                </a:solidFill>
              </a:defRPr>
            </a:pPr>
            <a:r>
              <a:rPr sz="1350" b="1">
                <a:solidFill>
                  <a:srgbClr val="4A22A4"/>
                </a:solidFill>
              </a:rPr>
              <a:t>⌁⌁⌁</a:t>
            </a:r>
          </a:p>
        </p:txBody>
      </p:sp>
      <p:sp>
        <p:nvSpPr>
          <p:cNvPr id="230" name="">
            <a:extLst xmlns:a="http://schemas.openxmlformats.org/drawingml/2006/main">
              <a:ext uri="{FF2B5EF4-FFF2-40B4-BE49-F238E27FC236}">
                <a16:creationId xmlns:a16="http://schemas.microsoft.com/office/drawing/2014/main" id="{BFBEE2D7-1F38-47F6-9104-A35B92B1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6858000"/>
            <a:ext cx="0" cy="171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231" name="">
            <a:extLst xmlns:a="http://schemas.openxmlformats.org/drawingml/2006/main">
              <a:ext uri="{FF2B5EF4-FFF2-40B4-BE49-F238E27FC236}">
                <a16:creationId xmlns:a16="http://schemas.microsoft.com/office/drawing/2014/main" id="{32141507-9E22-4611-9ECB-B948BD91C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6896100"/>
            <a:ext cx="1190625" cy="323850"/>
          </a:xfrm>
          <a:prstGeom xmlns:a="http://schemas.openxmlformats.org/drawingml/2006/main" prst="roundRect">
            <a:avLst>
              <a:gd name="adj" fmla="val 235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232" name="">
            <a:extLst xmlns:a="http://schemas.openxmlformats.org/drawingml/2006/main">
              <a:ext uri="{FF2B5EF4-FFF2-40B4-BE49-F238E27FC236}">
                <a16:creationId xmlns:a16="http://schemas.microsoft.com/office/drawing/2014/main" id="{5104CC2B-F8AF-48BA-87AF-7016EC3CB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6934200"/>
            <a:ext cx="5334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Igeo</a:t>
            </a:r>
          </a:p>
        </p:txBody>
      </p:sp>
      <p:sp>
        <p:nvSpPr>
          <p:cNvPr id="233" name="">
            <a:extLst xmlns:a="http://schemas.openxmlformats.org/drawingml/2006/main">
              <a:ext uri="{FF2B5EF4-FFF2-40B4-BE49-F238E27FC236}">
                <a16:creationId xmlns:a16="http://schemas.microsoft.com/office/drawing/2014/main" id="{F879EF6C-4733-49EA-9E5D-2C13C4E6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7239000"/>
            <a:ext cx="1638300" cy="371475"/>
          </a:xfrm>
          <a:prstGeom xmlns:a="http://schemas.openxmlformats.org/drawingml/2006/main" prst="roundRect">
            <a:avLst>
              <a:gd name="adj" fmla="val 20513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234" name="">
            <a:extLst xmlns:a="http://schemas.openxmlformats.org/drawingml/2006/main">
              <a:ext uri="{FF2B5EF4-FFF2-40B4-BE49-F238E27FC236}">
                <a16:creationId xmlns:a16="http://schemas.microsoft.com/office/drawing/2014/main" id="{B3A90F13-F2B7-41A1-B397-1E5C8F88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7286625"/>
            <a:ext cx="14478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●  先还原瘦脸 / 大眼等</a:t>
            </a:r>
          </a:p>
          <a:p xmlns:a="http://schemas.openxmlformats.org/drawingml/2006/main">
            <a:pPr algn="l">
              <a:defRPr sz="1050" b="0">
                <a:solidFill>
                  <a:srgbClr val="151515"/>
                </a:solidFill>
              </a:defRPr>
            </a:pPr>
            <a:r>
              <a:rPr sz="1050" b="0">
                <a:solidFill>
                  <a:srgbClr val="151515"/>
                </a:solidFill>
              </a:rPr>
              <a:t>空间变形</a:t>
            </a:r>
          </a:p>
        </p:txBody>
      </p:sp>
      <p:sp>
        <p:nvSpPr>
          <p:cNvPr id="235" name="">
            <a:extLst xmlns:a="http://schemas.openxmlformats.org/drawingml/2006/main">
              <a:ext uri="{FF2B5EF4-FFF2-40B4-BE49-F238E27FC236}">
                <a16:creationId xmlns:a16="http://schemas.microsoft.com/office/drawing/2014/main" id="{33931D02-865D-41AF-904C-B57A18465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7229475"/>
            <a:ext cx="18478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236" name="">
            <a:extLst xmlns:a="http://schemas.openxmlformats.org/drawingml/2006/main">
              <a:ext uri="{FF2B5EF4-FFF2-40B4-BE49-F238E27FC236}">
                <a16:creationId xmlns:a16="http://schemas.microsoft.com/office/drawing/2014/main" id="{43BE71E4-72A1-48AC-8916-E485E23DA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7277100"/>
            <a:ext cx="17335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11111"/>
                </a:solidFill>
              </a:defRPr>
            </a:pPr>
            <a:r>
              <a:rPr sz="825" b="0">
                <a:solidFill>
                  <a:srgbClr val="111111"/>
                </a:solidFill>
              </a:rPr>
              <a:t>● 先还原瘦脸 / 大眼等空间变形</a:t>
            </a:r>
          </a:p>
        </p:txBody>
      </p:sp>
      <p:sp>
        <p:nvSpPr>
          <p:cNvPr id="237" name="">
            <a:extLst xmlns:a="http://schemas.openxmlformats.org/drawingml/2006/main">
              <a:ext uri="{FF2B5EF4-FFF2-40B4-BE49-F238E27FC236}">
                <a16:creationId xmlns:a16="http://schemas.microsoft.com/office/drawing/2014/main" id="{8B74A10F-0726-4513-8BBB-EF0853992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4943475"/>
            <a:ext cx="8858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4A22A4"/>
            </a:solidFill>
            <a:prstDash val="solid"/>
          </a:ln>
        </p:spPr>
      </p:sp>
      <p:sp>
        <p:nvSpPr>
          <p:cNvPr id="238" name="">
            <a:extLst xmlns:a="http://schemas.openxmlformats.org/drawingml/2006/main">
              <a:ext uri="{FF2B5EF4-FFF2-40B4-BE49-F238E27FC236}">
                <a16:creationId xmlns:a16="http://schemas.microsoft.com/office/drawing/2014/main" id="{CBC139C7-766C-419A-A2F5-CA852B2AA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010150"/>
            <a:ext cx="733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Igeo</a:t>
            </a:r>
          </a:p>
        </p:txBody>
      </p:sp>
      <p:sp>
        <p:nvSpPr>
          <p:cNvPr id="239" name="">
            <a:extLst xmlns:a="http://schemas.openxmlformats.org/drawingml/2006/main">
              <a:ext uri="{FF2B5EF4-FFF2-40B4-BE49-F238E27FC236}">
                <a16:creationId xmlns:a16="http://schemas.microsoft.com/office/drawing/2014/main" id="{7E2B3F4B-4FC1-447F-B667-944FFC55D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5591175"/>
            <a:ext cx="8858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C7A37"/>
            </a:solidFill>
            <a:prstDash val="solid"/>
          </a:ln>
        </p:spPr>
      </p:sp>
      <p:sp>
        <p:nvSpPr>
          <p:cNvPr id="240" name="">
            <a:extLst xmlns:a="http://schemas.openxmlformats.org/drawingml/2006/main">
              <a:ext uri="{FF2B5EF4-FFF2-40B4-BE49-F238E27FC236}">
                <a16:creationId xmlns:a16="http://schemas.microsoft.com/office/drawing/2014/main" id="{578E58BE-61D4-496B-B156-243DBB187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5657850"/>
            <a:ext cx="733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Îₒᴸᴸ</a:t>
            </a:r>
          </a:p>
        </p:txBody>
      </p:sp>
      <p:sp>
        <p:nvSpPr>
          <p:cNvPr id="241" name="">
            <a:extLst xmlns:a="http://schemas.openxmlformats.org/drawingml/2006/main">
              <a:ext uri="{FF2B5EF4-FFF2-40B4-BE49-F238E27FC236}">
                <a16:creationId xmlns:a16="http://schemas.microsoft.com/office/drawing/2014/main" id="{56A4D04F-8F35-44C1-92FA-A8EA4456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4625" y="6210300"/>
            <a:ext cx="885825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2C7A37"/>
            </a:solidFill>
            <a:prstDash val="solid"/>
          </a:ln>
        </p:spPr>
      </p:sp>
      <p:sp>
        <p:nvSpPr>
          <p:cNvPr id="242" name="">
            <a:extLst xmlns:a="http://schemas.openxmlformats.org/drawingml/2006/main">
              <a:ext uri="{FF2B5EF4-FFF2-40B4-BE49-F238E27FC236}">
                <a16:creationId xmlns:a16="http://schemas.microsoft.com/office/drawing/2014/main" id="{463E4CCA-2F0D-4578-9519-3D208ED36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0825" y="6276975"/>
            <a:ext cx="7334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111"/>
                </a:solidFill>
              </a:defRPr>
            </a:pPr>
            <a:r>
              <a:rPr sz="1350" b="0">
                <a:solidFill>
                  <a:srgbClr val="111111"/>
                </a:solidFill>
              </a:rPr>
              <a:t>ẑᴴ</a:t>
            </a:r>
          </a:p>
        </p:txBody>
      </p:sp>
      <p:sp>
        <p:nvSpPr>
          <p:cNvPr id="243" name="">
            <a:extLst xmlns:a="http://schemas.openxmlformats.org/drawingml/2006/main">
              <a:ext uri="{FF2B5EF4-FFF2-40B4-BE49-F238E27FC236}">
                <a16:creationId xmlns:a16="http://schemas.microsoft.com/office/drawing/2014/main" id="{C45A7EA3-8D8F-481F-BAE0-C8C8A2D4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82450" y="5238750"/>
            <a:ext cx="2209800" cy="1238250"/>
          </a:xfrm>
          <a:prstGeom xmlns:a="http://schemas.openxmlformats.org/drawingml/2006/main" prst="roundRect">
            <a:avLst>
              <a:gd name="adj" fmla="val 13077"/>
            </a:avLst>
          </a:prstGeom>
          <a:solidFill xmlns:a="http://schemas.openxmlformats.org/drawingml/2006/main">
            <a:srgbClr val="EDFBF9"/>
          </a:solidFill>
          <a:ln xmlns:a="http://schemas.openxmlformats.org/drawingml/2006/main" w="14288">
            <a:solidFill>
              <a:srgbClr val="006C6C"/>
            </a:solidFill>
            <a:prstDash val="solid"/>
          </a:ln>
        </p:spPr>
      </p:sp>
      <p:sp>
        <p:nvSpPr>
          <p:cNvPr id="244" name="">
            <a:extLst xmlns:a="http://schemas.openxmlformats.org/drawingml/2006/main">
              <a:ext uri="{FF2B5EF4-FFF2-40B4-BE49-F238E27FC236}">
                <a16:creationId xmlns:a16="http://schemas.microsoft.com/office/drawing/2014/main" id="{E61E24D8-23BB-4A96-8729-03F74B0B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5800" y="5362575"/>
            <a:ext cx="194310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06C6C"/>
                </a:solidFill>
              </a:defRPr>
            </a:pPr>
            <a:r>
              <a:rPr sz="1425" b="1">
                <a:solidFill>
                  <a:srgbClr val="006C6C"/>
                </a:solidFill>
              </a:rPr>
              <a:t>●◉●</a:t>
            </a:r>
          </a:p>
          <a:p xmlns:a="http://schemas.openxmlformats.org/drawingml/2006/main">
            <a:pPr algn="ctr">
              <a:defRPr sz="1425" b="1">
                <a:solidFill>
                  <a:srgbClr val="006C6C"/>
                </a:solidFill>
              </a:defRPr>
            </a:pPr>
            <a:r>
              <a:rPr sz="1425" b="1">
                <a:solidFill>
                  <a:srgbClr val="006C6C"/>
                </a:solidFill>
              </a:rPr>
              <a:t>Restoration</a:t>
            </a:r>
          </a:p>
          <a:p xmlns:a="http://schemas.openxmlformats.org/drawingml/2006/main">
            <a:pPr algn="ctr">
              <a:defRPr sz="1425" b="1">
                <a:solidFill>
                  <a:srgbClr val="006C6C"/>
                </a:solidFill>
              </a:defRPr>
            </a:pPr>
            <a:r>
              <a:rPr sz="1425" b="1">
                <a:solidFill>
                  <a:srgbClr val="006C6C"/>
                </a:solidFill>
              </a:rPr>
              <a:t>Network /</a:t>
            </a:r>
          </a:p>
          <a:p xmlns:a="http://schemas.openxmlformats.org/drawingml/2006/main">
            <a:pPr algn="ctr">
              <a:defRPr sz="1425" b="1">
                <a:solidFill>
                  <a:srgbClr val="006C6C"/>
                </a:solidFill>
              </a:defRPr>
            </a:pPr>
            <a:r>
              <a:rPr sz="1425" b="1">
                <a:solidFill>
                  <a:srgbClr val="006C6C"/>
                </a:solidFill>
              </a:rPr>
              <a:t>CNN /</a:t>
            </a:r>
          </a:p>
          <a:p xmlns:a="http://schemas.openxmlformats.org/drawingml/2006/main">
            <a:pPr algn="ctr">
              <a:defRPr sz="1425" b="1">
                <a:solidFill>
                  <a:srgbClr val="006C6C"/>
                </a:solidFill>
              </a:defRPr>
            </a:pPr>
            <a:r>
              <a:rPr sz="1425" b="1">
                <a:solidFill>
                  <a:srgbClr val="006C6C"/>
                </a:solidFill>
              </a:rPr>
              <a:t>Restormer</a:t>
            </a:r>
          </a:p>
        </p:txBody>
      </p:sp>
      <p:sp>
        <p:nvSpPr>
          <p:cNvPr id="245" name="">
            <a:extLst xmlns:a="http://schemas.openxmlformats.org/drawingml/2006/main">
              <a:ext uri="{FF2B5EF4-FFF2-40B4-BE49-F238E27FC236}">
                <a16:creationId xmlns:a16="http://schemas.microsoft.com/office/drawing/2014/main" id="{C410EB3A-D11C-4885-A4A0-778FA5171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143500"/>
            <a:ext cx="704850" cy="285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246" name="">
            <a:extLst xmlns:a="http://schemas.openxmlformats.org/drawingml/2006/main">
              <a:ext uri="{FF2B5EF4-FFF2-40B4-BE49-F238E27FC236}">
                <a16:creationId xmlns:a16="http://schemas.microsoft.com/office/drawing/2014/main" id="{53B15803-284D-4C38-A5B9-C0798C4F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5791200"/>
            <a:ext cx="704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247" name="">
            <a:extLst xmlns:a="http://schemas.openxmlformats.org/drawingml/2006/main">
              <a:ext uri="{FF2B5EF4-FFF2-40B4-BE49-F238E27FC236}">
                <a16:creationId xmlns:a16="http://schemas.microsoft.com/office/drawing/2014/main" id="{3026772E-D0E6-4021-9469-D45DA428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143625"/>
            <a:ext cx="70485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pic>
        <p:nvPicPr>
          <p:cNvPr id="5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6292ccd9044ec"/>
          <a:srcRect xmlns:a="http://schemas.openxmlformats.org/drawingml/2006/main" l="7666" t="0" r="766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649450" y="5534025"/>
            <a:ext cx="704850" cy="904875"/>
          </a:xfrm>
          <a:prstGeom xmlns:a="http://schemas.openxmlformats.org/drawingml/2006/main" prst="roundRect">
            <a:avLst>
              <a:gd name="adj" fmla="val 13514"/>
            </a:avLst>
          </a:prstGeom>
        </p:spPr>
      </p:pic>
      <p:sp>
        <p:nvSpPr>
          <p:cNvPr id="249" name="">
            <a:extLst xmlns:a="http://schemas.openxmlformats.org/drawingml/2006/main">
              <a:ext uri="{FF2B5EF4-FFF2-40B4-BE49-F238E27FC236}">
                <a16:creationId xmlns:a16="http://schemas.microsoft.com/office/drawing/2014/main" id="{B7B567E7-D448-46FF-BE4B-902C5724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68475" y="5086350"/>
            <a:ext cx="1047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恢复原图</a:t>
            </a:r>
          </a:p>
          <a:p xmlns:a="http://schemas.openxmlformats.org/drawingml/2006/main">
            <a:pPr algn="ctr">
              <a:defRPr sz="1200" b="1">
                <a:solidFill>
                  <a:srgbClr val="111111"/>
                </a:solidFill>
              </a:defRPr>
            </a:pPr>
            <a:r>
              <a:rPr sz="1200" b="1">
                <a:solidFill>
                  <a:srgbClr val="111111"/>
                </a:solidFill>
              </a:rPr>
              <a:t>Îₒ</a:t>
            </a:r>
          </a:p>
        </p:txBody>
      </p:sp>
      <p:sp>
        <p:nvSpPr>
          <p:cNvPr id="250" name="">
            <a:extLst xmlns:a="http://schemas.openxmlformats.org/drawingml/2006/main">
              <a:ext uri="{FF2B5EF4-FFF2-40B4-BE49-F238E27FC236}">
                <a16:creationId xmlns:a16="http://schemas.microsoft.com/office/drawing/2014/main" id="{F4AF18A3-4BA0-4655-B1C1-8BFBB786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300" y="5857875"/>
            <a:ext cx="4095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3813">
            <a:solidFill>
              <a:srgbClr val="003B94"/>
            </a:solidFill>
            <a:prstDash val="solid"/>
          </a:ln>
        </p:spPr>
      </p:sp>
      <p:sp>
        <p:nvSpPr>
          <p:cNvPr id="251" name="">
            <a:extLst xmlns:a="http://schemas.openxmlformats.org/drawingml/2006/main">
              <a:ext uri="{FF2B5EF4-FFF2-40B4-BE49-F238E27FC236}">
                <a16:creationId xmlns:a16="http://schemas.microsoft.com/office/drawing/2014/main" id="{BB4B38B0-440D-47B2-AE1B-752524255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667500"/>
            <a:ext cx="3524250" cy="742950"/>
          </a:xfrm>
          <a:prstGeom xmlns:a="http://schemas.openxmlformats.org/drawingml/2006/main" prst="roundRect">
            <a:avLst>
              <a:gd name="adj" fmla="val 12821"/>
            </a:avLst>
          </a:prstGeom>
          <a:solidFill xmlns:a="http://schemas.openxmlformats.org/drawingml/2006/main">
            <a:srgbClr val="F7FBF5"/>
          </a:solidFill>
          <a:ln xmlns:a="http://schemas.openxmlformats.org/drawingml/2006/main" w="14288">
            <a:solidFill>
              <a:srgbClr val="2C7A37"/>
            </a:solidFill>
            <a:prstDash val="solid"/>
          </a:ln>
        </p:spPr>
      </p:sp>
      <p:sp>
        <p:nvSpPr>
          <p:cNvPr id="252" name="">
            <a:extLst xmlns:a="http://schemas.openxmlformats.org/drawingml/2006/main">
              <a:ext uri="{FF2B5EF4-FFF2-40B4-BE49-F238E27FC236}">
                <a16:creationId xmlns:a16="http://schemas.microsoft.com/office/drawing/2014/main" id="{1F98BC84-C722-45E0-A2E0-1755C4E8D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724650"/>
            <a:ext cx="323850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•  几何已对齐后，再恢复磨皮 / 美白等外观变化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•  可选 CNN / Transformer / conditional INN</a:t>
            </a:r>
          </a:p>
          <a:p xmlns:a="http://schemas.openxmlformats.org/drawingml/2006/main">
            <a:pPr algn="l">
              <a:defRPr sz="1125" b="0">
                <a:solidFill>
                  <a:srgbClr val="111111"/>
                </a:solidFill>
              </a:defRPr>
            </a:pPr>
            <a:r>
              <a:rPr sz="1125" b="0">
                <a:solidFill>
                  <a:srgbClr val="111111"/>
                </a:solidFill>
              </a:rPr>
              <a:t>•  最终输出尽可能接近原图</a:t>
            </a:r>
          </a:p>
        </p:txBody>
      </p:sp>
      <p:sp>
        <p:nvSpPr>
          <p:cNvPr id="253" name="">
            <a:extLst xmlns:a="http://schemas.openxmlformats.org/drawingml/2006/main">
              <a:ext uri="{FF2B5EF4-FFF2-40B4-BE49-F238E27FC236}">
                <a16:creationId xmlns:a16="http://schemas.microsoft.com/office/drawing/2014/main" id="{7D9A9024-0990-417C-9AE3-DF3573242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7524750"/>
            <a:ext cx="5229225" cy="400050"/>
          </a:xfrm>
          <a:prstGeom xmlns:a="http://schemas.openxmlformats.org/drawingml/2006/main" prst="roundRect">
            <a:avLst>
              <a:gd name="adj" fmla="val 2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FF0000"/>
            </a:solidFill>
            <a:prstDash val="solid"/>
          </a:ln>
        </p:spPr>
      </p:sp>
      <p:sp>
        <p:nvSpPr>
          <p:cNvPr id="254" name="">
            <a:extLst xmlns:a="http://schemas.openxmlformats.org/drawingml/2006/main">
              <a:ext uri="{FF2B5EF4-FFF2-40B4-BE49-F238E27FC236}">
                <a16:creationId xmlns:a16="http://schemas.microsoft.com/office/drawing/2014/main" id="{C91FDB82-CED8-4327-97C0-0171D2DB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7591425"/>
            <a:ext cx="49815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E00000"/>
                </a:solidFill>
              </a:defRPr>
            </a:pPr>
            <a:r>
              <a:rPr sz="1350" b="1">
                <a:solidFill>
                  <a:srgbClr val="E00000"/>
                </a:solidFill>
              </a:rPr>
              <a:t>★  创新点：主动 side-channel + 显式形变估计 + 逆恢复</a:t>
            </a:r>
          </a:p>
        </p:txBody>
      </p:sp>
      <p:sp>
        <p:nvSpPr>
          <p:cNvPr id="255" name="">
            <a:extLst xmlns:a="http://schemas.openxmlformats.org/drawingml/2006/main">
              <a:ext uri="{FF2B5EF4-FFF2-40B4-BE49-F238E27FC236}">
                <a16:creationId xmlns:a16="http://schemas.microsoft.com/office/drawing/2014/main" id="{3503E132-82DE-45F6-8A26-6E614CD08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7934325"/>
            <a:ext cx="15506700" cy="87630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256" name="">
            <a:extLst xmlns:a="http://schemas.openxmlformats.org/drawingml/2006/main">
              <a:ext uri="{FF2B5EF4-FFF2-40B4-BE49-F238E27FC236}">
                <a16:creationId xmlns:a16="http://schemas.microsoft.com/office/drawing/2014/main" id="{D8F57313-5CE7-4190-B7D6-125B90D4B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8058150"/>
            <a:ext cx="491490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BF5"/>
          </a:solidFill>
          <a:ln xmlns:a="http://schemas.openxmlformats.org/drawingml/2006/main" w="14288">
            <a:solidFill>
              <a:srgbClr val="2C7A37"/>
            </a:solidFill>
            <a:prstDash val="solid"/>
          </a:ln>
        </p:spPr>
      </p:sp>
      <p:sp>
        <p:nvSpPr>
          <p:cNvPr id="257" name="">
            <a:extLst xmlns:a="http://schemas.openxmlformats.org/drawingml/2006/main">
              <a:ext uri="{FF2B5EF4-FFF2-40B4-BE49-F238E27FC236}">
                <a16:creationId xmlns:a16="http://schemas.microsoft.com/office/drawing/2014/main" id="{96618E6D-17FE-44F3-952E-933BFB1E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8134350"/>
            <a:ext cx="45243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C7A37"/>
                </a:solidFill>
              </a:defRPr>
            </a:pPr>
            <a:r>
              <a:rPr sz="1200" b="1">
                <a:solidFill>
                  <a:srgbClr val="2C7A37"/>
                </a:solidFill>
              </a:rPr>
              <a:t>◎  A. 阶段1验证：Payload 是否能穿过 Beauty？</a:t>
            </a:r>
          </a:p>
          <a:p xmlns:a="http://schemas.openxmlformats.org/drawingml/2006/main">
            <a:pPr algn="l">
              <a:defRPr sz="1200" b="1">
                <a:solidFill>
                  <a:srgbClr val="2C7A37"/>
                </a:solidFill>
              </a:defRPr>
            </a:pPr>
            <a:r>
              <a:rPr sz="1200" b="1">
                <a:solidFill>
                  <a:srgbClr val="2C7A37"/>
                </a:solidFill>
              </a:rPr>
              <a:t>Metrics：PSNR / SSIM / Bit accuracy</a:t>
            </a:r>
          </a:p>
        </p:txBody>
      </p:sp>
      <p:sp>
        <p:nvSpPr>
          <p:cNvPr id="258" name="">
            <a:extLst xmlns:a="http://schemas.openxmlformats.org/drawingml/2006/main">
              <a:ext uri="{FF2B5EF4-FFF2-40B4-BE49-F238E27FC236}">
                <a16:creationId xmlns:a16="http://schemas.microsoft.com/office/drawing/2014/main" id="{ABC73CB3-8BC8-406A-B454-BD05BA39C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8058150"/>
            <a:ext cx="4857750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7FAFF"/>
          </a:solidFill>
          <a:ln xmlns:a="http://schemas.openxmlformats.org/drawingml/2006/main" w="14288">
            <a:solidFill>
              <a:srgbClr val="074AC3"/>
            </a:solidFill>
            <a:prstDash val="solid"/>
          </a:ln>
        </p:spPr>
      </p:sp>
      <p:sp>
        <p:nvSpPr>
          <p:cNvPr id="259" name="">
            <a:extLst xmlns:a="http://schemas.openxmlformats.org/drawingml/2006/main">
              <a:ext uri="{FF2B5EF4-FFF2-40B4-BE49-F238E27FC236}">
                <a16:creationId xmlns:a16="http://schemas.microsoft.com/office/drawing/2014/main" id="{ADC38382-9E72-4E47-9C53-BA5A5DB4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8134350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01C62"/>
                </a:solidFill>
              </a:defRPr>
            </a:pPr>
            <a:r>
              <a:rPr sz="1200" b="1">
                <a:solidFill>
                  <a:srgbClr val="001C62"/>
                </a:solidFill>
              </a:rPr>
              <a:t>⌁  B. 阶段2验证：形变场是否可恢复？</a:t>
            </a:r>
          </a:p>
          <a:p xmlns:a="http://schemas.openxmlformats.org/drawingml/2006/main">
            <a:pPr algn="l">
              <a:defRPr sz="1200" b="1">
                <a:solidFill>
                  <a:srgbClr val="001C62"/>
                </a:solidFill>
              </a:defRPr>
            </a:pPr>
            <a:r>
              <a:rPr sz="1200" b="1">
                <a:solidFill>
                  <a:srgbClr val="001C62"/>
                </a:solidFill>
              </a:rPr>
              <a:t>Metrics：EPE / Flow error / Landmark error</a:t>
            </a:r>
          </a:p>
        </p:txBody>
      </p:sp>
      <p:sp>
        <p:nvSpPr>
          <p:cNvPr id="260" name="">
            <a:extLst xmlns:a="http://schemas.openxmlformats.org/drawingml/2006/main">
              <a:ext uri="{FF2B5EF4-FFF2-40B4-BE49-F238E27FC236}">
                <a16:creationId xmlns:a16="http://schemas.microsoft.com/office/drawing/2014/main" id="{11B3A38F-AAF3-40D3-AF2E-F0D44D74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67975" y="8058150"/>
            <a:ext cx="5038725" cy="6096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FFF9F0"/>
          </a:solidFill>
          <a:ln xmlns:a="http://schemas.openxmlformats.org/drawingml/2006/main" w="14288">
            <a:solidFill>
              <a:srgbClr val="E87D00"/>
            </a:solidFill>
            <a:prstDash val="solid"/>
          </a:ln>
        </p:spPr>
      </p:sp>
      <p:sp>
        <p:nvSpPr>
          <p:cNvPr id="261" name="">
            <a:extLst xmlns:a="http://schemas.openxmlformats.org/drawingml/2006/main">
              <a:ext uri="{FF2B5EF4-FFF2-40B4-BE49-F238E27FC236}">
                <a16:creationId xmlns:a16="http://schemas.microsoft.com/office/drawing/2014/main" id="{7546E169-C001-4760-9576-DF3D6055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8134350"/>
            <a:ext cx="466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◯  C. 阶段3验证：原图恢复是否提升？</a:t>
            </a:r>
          </a:p>
          <a:p xmlns:a="http://schemas.openxmlformats.org/drawingml/2006/main">
            <a:pPr algn="l">
              <a:defRPr sz="1200" b="1">
                <a:solidFill>
                  <a:srgbClr val="C35B00"/>
                </a:solidFill>
              </a:defRPr>
            </a:pPr>
            <a:r>
              <a:rPr sz="1200" b="1">
                <a:solidFill>
                  <a:srgbClr val="C35B00"/>
                </a:solidFill>
              </a:rPr>
              <a:t>Metrics：PSNR / LPIPS / ID similarity</a:t>
            </a:r>
          </a:p>
        </p:txBody>
      </p:sp>
    </p:spTree>
    <p:extLst>
      <p:ext uri="{BB962C8B-B14F-4D97-AF65-F5344CB8AC3E}">
        <p14:creationId xmlns:p14="http://schemas.microsoft.com/office/powerpoint/2010/main" val="85190509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2026-08-23T18:03:21.8700000Z</dcterms:created>
  <dcterms:modified xsi:type="dcterms:W3CDTF">2026-08-23T18:03:21.8700000Z</dcterms:modified>
</coreProperties>
</file>